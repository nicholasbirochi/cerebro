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153.375</c:v>
                </c:pt>
                <c:pt idx="1">
                  <c:v>758.0</c:v>
                </c:pt>
                <c:pt idx="2">
                  <c:v>2298.0</c:v>
                </c:pt>
                <c:pt idx="3">
                  <c:v>3060.125</c:v>
                </c:pt>
                <c:pt idx="4">
                  <c:v>3115.625</c:v>
                </c:pt>
                <c:pt idx="5">
                  <c:v>3115.875</c:v>
                </c:pt>
                <c:pt idx="6">
                  <c:v>3116.125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153.375</c:v>
                </c:pt>
                <c:pt idx="1">
                  <c:v>754.5</c:v>
                </c:pt>
                <c:pt idx="2">
                  <c:v>1260.625</c:v>
                </c:pt>
                <c:pt idx="3">
                  <c:v>1299.5</c:v>
                </c:pt>
                <c:pt idx="4">
                  <c:v>1301.0</c:v>
                </c:pt>
                <c:pt idx="5">
                  <c:v>1301.25</c:v>
                </c:pt>
                <c:pt idx="6">
                  <c:v>1301.5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600.0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a menos</c:v>
                </c:pt>
              </c:strCache>
            </c:strRef>
          </c:tx>
          <c:spPr>
            <a:ln w="25400">
              <a:solidFill>
                <a:srgbClr val="B9821A"/>
              </a:solidFill>
            </a:ln>
          </c:spPr>
          <c:marker>
            <c:symbol val="circle"/>
            <c:size val="7"/>
            <c:spPr>
              <a:solidFill>
                <a:srgbClr val="B9821A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B9821A"/>
                  </a:solidFill>
                </a:ln>
              </c:spPr>
            </c:marker>
            <c:spPr>
              <a:ln w="19050">
                <a:solidFill>
                  <a:srgbClr val="B9821A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0.005</c:v>
                </c:pt>
                <c:pt idx="2">
                  <c:v>0.451</c:v>
                </c:pt>
                <c:pt idx="3">
                  <c:v>0.575</c:v>
                </c:pt>
                <c:pt idx="4">
                  <c:v>0.5820000000000001</c:v>
                </c:pt>
                <c:pt idx="5">
                  <c:v>0.5820000000000001</c:v>
                </c:pt>
                <c:pt idx="6">
                  <c:v>0.5820000000000001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</c:v>
                </c:pt>
                <c:pt idx="1">
                  <c:v>0.342</c:v>
                </c:pt>
                <c:pt idx="2">
                  <c:v>0.452</c:v>
                </c:pt>
                <c:pt idx="3">
                  <c:v>1.296</c:v>
                </c:pt>
                <c:pt idx="4">
                  <c:v>13.581</c:v>
                </c:pt>
                <c:pt idx="5">
                  <c:v>614.024</c:v>
                </c:pt>
                <c:pt idx="6">
                  <c:v>96687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</c:v>
                </c:pt>
                <c:pt idx="1">
                  <c:v>0.345</c:v>
                </c:pt>
                <c:pt idx="2">
                  <c:v>0.456</c:v>
                </c:pt>
                <c:pt idx="3">
                  <c:v>1.395</c:v>
                </c:pt>
                <c:pt idx="4">
                  <c:v>10.095</c:v>
                </c:pt>
                <c:pt idx="5">
                  <c:v>160.173</c:v>
                </c:pt>
                <c:pt idx="6">
                  <c:v>2970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.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28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DEC9"/>
                </a:solidFill>
                <a:latin typeface="Arial"/>
              </a:rPr>
              <a:t>BENCHMARK DE TOKENS · 6 ESCALAS MEDIDAS + 1 PROJETADA · 48 CONSULTAS PAREADAS · 96 EXECUÇÕES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4572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EEF2F6"/>
                </a:solidFill>
                <a:latin typeface="Arial"/>
              </a:rPr>
              <a:t>58% menos tokens, de 1 nota a 1 milhão de notas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525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B4C0CC"/>
                </a:solidFill>
                <a:latin typeface="Arial"/>
              </a:rPr>
              <a:t>Tokens que a busca devolve ao agente por consulta. Medido de 1 a 100 mil notas (282,1 MB); 1 milhão (2,83 GB) medido em 4 de 8 buscas, completado por estimativa.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0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EEF2F6"/>
                </a:solidFill>
                <a:latin typeface="Arial"/>
              </a:rPr>
              <a:t>58,2%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menos tokens por consulta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5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3.116 → 1.301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por consulta, em média,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5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51,4%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a menos no total das 48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consultas: 100.008 → 48.562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0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2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48/48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2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consultas com as mesmas notas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 trechos: menos tokens, mesma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Tokens retornados por consulta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média de 8 consultas, tokens o200k_base · ○ tracejado = projeção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080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48945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Redução de tokens conforme o acervo cresce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45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agregado de 8 consultas por escala, % · ○ tracejado = projeção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8945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4709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Tempo de busca por escala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09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soma de 8 consultas, segundos, escala log. · ○ tracejado = projeção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84709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44500" y="4445000"/>
          <a:ext cx="11302996" cy="1511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7500"/>
                <a:gridCol w="1387928"/>
                <a:gridCol w="1387928"/>
                <a:gridCol w="1387928"/>
                <a:gridCol w="1387928"/>
                <a:gridCol w="1387928"/>
                <a:gridCol w="1387928"/>
                <a:gridCol w="1387928"/>
              </a:tblGrid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Notas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milhão · projeção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Acervo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1,8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27,1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281,0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2,8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28,2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282,1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2,83 GB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antes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3.060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atual / consulta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1.302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Economia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1.037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Redução (tokens)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Tempo antes → atual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0,5 s → 0,5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1,3 s → 1,4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13,6 s → 10,1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10 min → 3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27 h → 50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08000" y="61722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70DEC9"/>
                </a:solidFill>
                <a:latin typeface="Arial"/>
              </a:rPr>
              <a:t>Medido: de 1 a 100 mil notas, cada escala gravou e consultou suas notas em disco; mesmas notas e trechos antes e depois, limite de 5 notas e 12.000 caracteres por consulta.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63373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EEF2F6"/>
                </a:solidFill>
                <a:latin typeface="Arial"/>
              </a:rPr>
              <a:t>Tokens: tiktoken o200k_base sobre a saída da busca (aproximação; o tokenizador do Claude difere). 1 milhão: tokens projetados; tempo medido nas buscas 1–4, estimado nas 5–8.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" y="6553200"/>
            <a:ext cx="11176000" cy="12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18/10/2026 · Apple M5, Python 3.14.7 · uma passagem por caso, sem controle de cache · dados 100% sintéticos · método e números completos: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Cérebro: tokens por consulta em sete escalas</dc:title>
  <dc:subject/>
  <dc:creator>Nicholas Birochi</dc:creator>
  <cp:keywords/>
  <dc:description>generated using python-pptx</dc:description>
  <cp:lastModifiedBy>Nicholas Birochi</cp:lastModifiedBy>
  <cp:revision>1</cp:revision>
  <dcterms:created xsi:type="dcterms:W3CDTF">2026-10-18T12:00:00Z</dcterms:created>
  <dcterms:modified xsi:type="dcterms:W3CDTF">2026-10-18T12:00:00Z</dcterms:modified>
  <cp:category/>
</cp:coreProperties>
</file>
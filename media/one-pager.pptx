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cb26dabfce435e" /><Relationship Type="http://schemas.openxmlformats.org/officeDocument/2006/relationships/extended-properties" Target="/docProps/app.xml" Id="R2721b8f9dbf04fe7" /><Relationship Type="http://schemas.openxmlformats.org/officeDocument/2006/relationships/officeDocument" Target="/ppt/presentation.xml" Id="Rc6a187c51f2a4b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eb4ecff8a7416c"/>
  </p:sldMasterIdLst>
  <p:notesMasterIdLst>
    <p:notesMasterId xmlns:r="http://schemas.openxmlformats.org/officeDocument/2006/relationships" r:id="R02349d5d80804f78"/>
  </p:notesMasterIdLst>
  <p:sldIdLst>
    <p:sldId xmlns:r="http://schemas.openxmlformats.org/officeDocument/2006/relationships" id="256" r:id="R9db6d1d4a2fa4f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399ec15bff45ac" /><Relationship Type="http://schemas.openxmlformats.org/officeDocument/2006/relationships/slideMaster" Target="/ppt/slideMasters/slideMaster1.xml" Id="Rc7eb4ecff8a7416c" /><Relationship Type="http://schemas.openxmlformats.org/officeDocument/2006/relationships/notesMaster" Target="/ppt/notesMasters/notesMaster1.xml" Id="R02349d5d80804f78" /><Relationship Type="http://schemas.openxmlformats.org/officeDocument/2006/relationships/presProps" Target="/ppt/presProps.xml" Id="R83dfa2d561d64ac6" /><Relationship Type="http://schemas.openxmlformats.org/officeDocument/2006/relationships/tableStyles" Target="/ppt/tableStyles.xml" Id="Ree2c561907224887" /><Relationship Type="http://schemas.openxmlformats.org/officeDocument/2006/relationships/slide" Target="/ppt/slides/slide1.xml" Id="R9db6d1d4a2fa4f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5ecf62ddb247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c39b9fc900480b" /><Relationship Type="http://schemas.openxmlformats.org/officeDocument/2006/relationships/notesMaster" Target="/ppt/notesMasters/notesMaster1.xml" Id="Rf11d7eae0bff4a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Medição local em 16/10/2026, versão pública 663803e: comparação da mesma consulta no mesmo estado do cofre com cinco notas e orçamento de 12.000 caracteres. Saída inteira anterior: 11.961 caracteres; nova: 4.677; diferença: 7.284; redução arredondada: 60,9%. Os nomes das cinco notas e os trechos selecionados foram conferidos como idênticos; nomes de omissões e resumos não fazem parte dessa equivalência. Dados privados não acompanham a apresentação. Fonte pública do método e limites: https://github.com/nicholasbirochi/Cerebro/blob/main/docs/BENCHMARK.md.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Cenário sintético distinto, reproduzível pelo script público tools/benchmark_busca.py: 40 notas relevantes, mesmas cinco notas e vinte trechos; 11.696 → 5.862 caracteres, redução de 49,9%. O padrão atual de duas notas retorna 2.495 caracteres neste cenário sintético e não compõe a comparação controlada de cinco notas.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Não foram medidos tokens de entrada, saída, raciocínio, cache, consumo global de IAs, latência, produtividade ou desconto financeiro. A mensalidade permanece a mesma: R$0 de desconto. A imagem anterior apresentava uma simulação de 30% menos tokens no principal, com projeções hipotéticas de tempo e equivalência de API; foi substituída por resultados de saída da busca, sem converter caracteres em tokens ou dinheiro. O vídeo ilustrativo da arquitetura permanece inalterado.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c17e530692414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f47987cf84b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05ac4614484c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231e0e5e27461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108a0bac41448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d8947518b4a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B9C44B-CEB7-48E5-A4AB-9204620FCD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563BA4A-2AB4-4B70-BDAE-841C39FF0C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C667B96-F746-4FB9-B514-AD97CB5435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93D361-9101-454F-8F81-AACF04ABC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52D83E6-5D72-4A63-8FBE-374F8B6DCB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1DEFDC-F6F1-4E8B-B315-FF97EE7726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06C76A5-1377-413D-B77F-A5F9EC35A5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2336450-ADE1-4436-BAB4-00A43E5A148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CBE39E-090F-4086-ACBF-8CF623B0F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FB93EA-BF20-4B6A-A880-FF36811F53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73301e95db4877" /><Relationship Type="http://schemas.openxmlformats.org/officeDocument/2006/relationships/slideLayout" Target="/ppt/slideLayouts/slideLayout1.xml" Id="Rda0e6a14c069476a" /><Relationship Type="http://schemas.openxmlformats.org/officeDocument/2006/relationships/slideLayout" Target="/ppt/slideLayouts/slideLayout2.xml" Id="Rc62d934f8afd4486" /><Relationship Type="http://schemas.openxmlformats.org/officeDocument/2006/relationships/slideLayout" Target="/ppt/slideLayouts/slideLayout3.xml" Id="R9e3063e969d94e3a" /><Relationship Type="http://schemas.openxmlformats.org/officeDocument/2006/relationships/slideLayout" Target="/ppt/slideLayouts/slideLayout4.xml" Id="Ra749fceaebd34d42" /><Relationship Type="http://schemas.openxmlformats.org/officeDocument/2006/relationships/slideLayout" Target="/ppt/slideLayouts/slideLayout5.xml" Id="Rddd0c500499f42e8" /><Relationship Type="http://schemas.openxmlformats.org/officeDocument/2006/relationships/slideLayout" Target="/ppt/slideLayouts/slideLayout6.xml" Id="R6c437044ab7644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0e6a14c069476a"/>
    <p:sldLayoutId xmlns:r="http://schemas.openxmlformats.org/officeDocument/2006/relationships" id="2147483650" r:id="Rc62d934f8afd4486"/>
    <p:sldLayoutId xmlns:r="http://schemas.openxmlformats.org/officeDocument/2006/relationships" id="2147483651" r:id="R9e3063e969d94e3a"/>
    <p:sldLayoutId xmlns:r="http://schemas.openxmlformats.org/officeDocument/2006/relationships" id="2147483652" r:id="Ra749fceaebd34d42"/>
    <p:sldLayoutId xmlns:r="http://schemas.openxmlformats.org/officeDocument/2006/relationships" id="2147483653" r:id="Rddd0c500499f42e8"/>
    <p:sldLayoutId xmlns:r="http://schemas.openxmlformats.org/officeDocument/2006/relationships" id="2147483654" r:id="R6c437044ab7644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4c31050e554750" /><Relationship Type="http://schemas.openxmlformats.org/officeDocument/2006/relationships/chart" Target="/ppt/slides/charts/chart1.xml" Id="R0c7e625a0ffe4c48" /><Relationship Type="http://schemas.openxmlformats.org/officeDocument/2006/relationships/notesSlide" Target="/ppt/notesSlides/notesSlide1.xml" Id="R7d9eeb7e6a7f46c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lang val="en-US"/>
  <ns0:chart>
    <ns0:plotArea>
      <ns0:barChart>
        <ns0:barDir val="bar"/>
        <ns0:grouping val="clustered"/>
        <ns0:varyColors val="1"/>
        <ns0:ser>
          <ns0:idx val="0"/>
          <ns0:order val="0"/>
          <ns0:tx>
            <ns0:v>Caracteres retornados pela busca</ns0:v>
          </ns0:tx>
          <ns0:invertIfNegative val="0"/>
          <ns0:dPt>
            <ns0:idx val="0"/>
            <ns0:invertIfNegative val="0"/>
            <ns0:spPr>
              <ns1:solidFill>
                <ns1:srgbClr val="70DEC9"/>
              </ns1:solidFill>
            </ns0:spPr>
          </ns0:dPt>
          <ns0:dPt>
            <ns0:idx val="1"/>
            <ns0:invertIfNegative val="0"/>
            <ns0:spPr>
              <ns1:solidFill>
                <ns1:srgbClr val="607487"/>
              </ns1:solidFill>
            </ns0:spPr>
          </ns0:dPt>
          <ns0:dLbls>
            <ns0:dLbl>
              <ns0:idx val="0"/>
              <ns0:tx>
                <ns0:rich>
                  <ns1:bodyPr/>
                  <ns1:lstStyle/>
                  <ns1:p>
                    <ns1:r>
                      <ns1:rPr sz="1800" b="1">
                        <ns1:solidFill>
                          <ns1:srgbClr val="101923"/>
                        </ns1:solidFill>
                        <ns1:latin typeface="Arial"/>
                        <ns1:ea typeface="Arial"/>
                        <ns1:cs typeface="Arial"/>
                      </ns1:rPr>
                      <ns1:t>4.677</ns1:t>
                    </ns1:r>
                  </ns1:p>
                </ns0:rich>
              </ns0:tx>
              <ns0:txPr>
                <ns1:bodyPr anchorCtr="1"/>
                <ns1:lstStyle/>
                <ns1:p>
                  <ns1:pPr>
                    <ns1:defRPr sz="1800" b="1">
                      <ns1:solidFill>
                        <ns1:srgbClr val="101923"/>
                      </ns1:solidFill>
                      <ns1:latin typeface="Arial"/>
                      <ns1:ea typeface="Arial"/>
                      <ns1:cs typeface="Arial"/>
                    </ns1:defRPr>
                  </ns1:pPr>
                </ns1:p>
              </ns0:txPr>
              <ns0:dLblPos val="inEnd"/>
              <ns0:showVal val="0"/>
            </ns0:dLbl>
            <ns0:dLbl>
              <ns0:idx val="1"/>
              <ns0:tx>
                <ns0:rich>
                  <ns1:bodyPr/>
                  <ns1:lstStyle/>
                  <ns1:p>
                    <ns1:r>
                      <ns1:rPr sz="1800" b="1">
                        <ns1:solidFill>
                          <ns1:srgbClr val="F5F6F0"/>
                        </ns1:solidFill>
                        <ns1:latin typeface="Arial"/>
                        <ns1:ea typeface="Arial"/>
                        <ns1:cs typeface="Arial"/>
                      </ns1:rPr>
                      <ns1:t>11.961</ns1:t>
                    </ns1:r>
                  </ns1:p>
                </ns0:rich>
              </ns0:tx>
              <ns0:txPr>
                <ns1:bodyPr anchorCtr="1"/>
                <ns1:lstStyle/>
                <ns1:p>
                  <ns1:pPr>
                    <ns1:defRPr sz="1800" b="1">
                      <ns1:solidFill>
                        <ns1:srgbClr val="F5F6F0"/>
                      </ns1:solidFill>
                      <ns1:latin typeface="Arial"/>
                      <ns1:ea typeface="Arial"/>
                      <ns1:cs typeface="Arial"/>
                    </ns1:defRPr>
                  </ns1:pPr>
                </ns1:p>
              </ns0:txPr>
              <ns0:dLblPos val="inEnd"/>
              <ns0:showVal val="0"/>
            </ns0:dLbl>
            <ns0:showLegendKey val="0"/>
            <ns0:showVal val="0"/>
            <ns0:showCatName val="0"/>
            <ns0:showSerName val="0"/>
            <ns0:showPercent val="0"/>
            <ns0:showBubbleSize val="0"/>
            <ns0:showLeaderLines val="0"/>
          </ns0:dLbls>
          <ns0:cat>
            <ns0:strRef>
              <ns0:f>'Chart Data'!$A$2:$A$3</ns0:f>
              <ns0:strCache>
                <ns0:ptCount val="2"/>
                <ns0:pt idx="0">
                  <ns0:v>Agora</ns0:v>
                </ns0:pt>
                <ns0:pt idx="1">
                  <ns0:v>Antes</ns0:v>
                </ns0:pt>
              </ns0:strCache>
            </ns0:strRef>
          </ns0:cat>
          <ns0:val>
            <ns0:numRef>
              <ns0:f>'Chart Data'!$B$2:$B$3</ns0:f>
              <ns0:numCache>
                <ns0:formatCode>General</ns0:formatCode>
                <ns0:ptCount val="2"/>
                <ns0:pt idx="0">
                  <ns0:v>4677</ns0:v>
                </ns0:pt>
                <ns0:pt idx="1">
                  <ns0:v>11961</ns0:v>
                </ns0:pt>
              </ns0:numCache>
            </ns0:numRef>
          </ns0:val>
        </ns0:ser>
        <ns0:dLbls>
          <ns0:delete val="0"/>
          <ns0:txPr>
            <ns1:bodyPr anchorCtr="1"/>
            <ns1:lstStyle/>
            <ns1:p>
              <ns1:pPr>
                <ns1:defRPr>
                  <ns1:latin typeface="Arial"/>
                  <ns1:ea typeface="Arial"/>
                  <ns1:cs typeface="Arial"/>
                </ns1:defRPr>
              </ns1:pPr>
            </ns1:p>
          </ns0:txPr>
          <ns0:dLblPos val="inEnd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6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l"/>
        <ns0:numFmt formatCode="General"/>
        <ns0:majorTickMark val="none"/>
        <ns0:minorTickMark val="none"/>
        <ns0:spPr>
          <ns1:ln w="0">
            <ns1:noFill/>
          </ns1:ln>
        </ns0:spPr>
        <ns0:txPr>
          <ns1:bodyPr anchorCtr="1"/>
          <ns1:lstStyle/>
          <ns1:p>
            <ns1:pPr>
              <ns1:defRPr sz="1575" b="1">
                <ns1:solidFill>
                  <ns1:srgbClr val="F5F6F0"/>
                </ns1:solidFill>
                <ns1:latin typeface="Arial"/>
                <ns1:ea typeface="Arial"/>
                <ns1:cs typeface="Arial"/>
              </ns1:defRPr>
            </ns1:pPr>
          </ns1:p>
        </ns0:txPr>
        <ns0:crossAx val="48672768"/>
      </ns0:catAx>
      <ns0:valAx>
        <ns0:axId val="48672768"/>
        <ns0:scaling>
          <ns0:orientation val="minMax"/>
          <ns0:max val="13157.1"/>
          <ns0:min val="0"/>
        </ns0:scaling>
        <ns0:delete val="1"/>
        <ns0:axPos val="b"/>
        <ns0:numFmt formatCode="General"/>
        <ns0:majorTickMark val="none"/>
        <ns0:minorTickMark val="none"/>
        <ns0:spPr>
          <ns1:ln w="9525">
            <ns1:solidFill>
              <ns1:srgbClr val="D4D4D4"/>
            </ns1:solidFill>
            <ns1:prstDash val="solid"/>
          </ns1:ln>
        </ns0:spPr>
        <ns0:txPr>
          <ns1:bodyPr anchorCtr="1"/>
          <ns1:lstStyle/>
          <ns1:p>
            <ns1:pPr>
              <ns1:defRPr>
                <ns1:solidFill>
                  <ns1:srgbClr val="666666"/>
                </ns1:solidFill>
                <ns1:latin typeface="Arial"/>
                <ns1:ea typeface="Arial"/>
                <ns1:cs typeface="Arial"/>
              </ns1:defRPr>
            </ns1:pPr>
          </ns1:p>
        </ns0:txPr>
        <ns0:crossAx val="48650112"/>
        <ns0:crossBetween val="between"/>
      </ns0:valAx>
      <ns0:spPr>
        <ns1:solidFill>
          <ns1:srgbClr val="101923"/>
        </ns1:solidFill>
        <ns1:ln w="0">
          <ns1:noFill/>
        </ns1:ln>
      </ns0:spPr>
    </ns0:plotArea>
    <ns0:plotVisOnly val="1"/>
  </ns0:chart>
  <ns0:spPr>
    <ns1:solidFill>
      <ns1:srgbClr val="101923"/>
    </ns1:solidFill>
    <ns1:ln w="0">
      <ns1:noFill/>
    </ns1:ln>
  </ns0:spPr>
  <ns0:externalData ns2:id="rIdChartSnapshot1">
    <ns0:autoUpdate val="0"/>
  </ns0:externalData>
</ns0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49E381-6774-4E56-BC9A-83F7CA70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MEDIÇÃO LOCAL · MESMO CONTEXTO · MESMA MENSALIDADE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A314CE-6A2F-46B4-ABFD-2652AD2D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60,9% menos texto na busca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04C1A-E9BA-4E56-9BBF-802B400A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125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Mesma consulta, mesmo acervo, mesmas cinco notas e trechos.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048EF-72FF-4FE5-9E28-7BC25579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Texto retornado pela busca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ECA498E-2511-4A0A-9952-3A6E0D2BC73B}"/>
              </a:ext>
            </a:extLst>
          </p:cNvPr>
          <p:cNvGraphicFramePr/>
          <p:nvPr/>
        </p:nvGraphicFramePr>
        <p:xfrm>
          <a:off xmlns:a="http://schemas.openxmlformats.org/drawingml/2006/main" x="533400" y="1847850"/>
          <a:ext xmlns:a="http://schemas.openxmlformats.org/drawingml/2006/main" cx="4133850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7e625a0ffe4c4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0BE0E-B0A6-4D99-8076-41DC17CB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57525"/>
            <a:ext cx="413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7.284 caracteres a menos (60,9%)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5B421-8C98-4C8C-9E95-61B67316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5049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A conta da redução medida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38BA4-7C9D-40DB-8AFD-C0A806B4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24050"/>
            <a:ext cx="657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11.961 − 4.677 = 7.284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DE662-877D-4CD6-82B8-8A04BE05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90775"/>
            <a:ext cx="657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7.284 caracteres deixam de ocupar a saída da busca.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5CE58-E17E-49DB-B061-37E9B3C7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67000"/>
            <a:ext cx="657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O conteúdo dos trechos selecionados foi preservado.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8A7876-FFD8-47F2-9099-69F33571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718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5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Redução: 7.284 ÷ 11.961 = 60,9%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BB1EB-3E87-4413-9747-F1529AC5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67075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O ganho vem de resumir a lista de notas omitidas.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520EE-BF46-4BA9-8B44-3C49FAB3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62325"/>
            <a:ext cx="571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Controle da comparação local</a:t>
            </a:r>
          </a:p>
        </p:txBody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60879A-9846-47C3-B233-0D9BCF1C5A85}"/>
              </a:ext>
            </a:extLst>
          </p:cNvPr>
          <p:cNvGraphicFramePr/>
          <p:nvPr/>
        </p:nvGraphicFramePr>
        <p:xfrm>
          <a:off xmlns:a="http://schemas.openxmlformats.org/drawingml/2006/main" x="533400" y="3657600"/>
          <a:ext xmlns:a="http://schemas.openxmlformats.org/drawingml/2006/main" cx="57150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1381125"/>
                <a:gridCol w="1476375"/>
                <a:gridCol w="1714500"/>
              </a:tblGrid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Controle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Antes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Agora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Diferença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Notas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mesmas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Trechos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originais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idênticos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preservados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Limite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5 notas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5 notas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igual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Orçamento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12.000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12.000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igual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Caracteres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11.961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4.677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−7.284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FAC1FC-4FAE-4E95-8F62-20670D4D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00450"/>
            <a:ext cx="499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Benchmark público sintético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E3D6B-E13B-4D25-BB2B-9CA9CF9D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52875"/>
            <a:ext cx="499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70DEC9"/>
                </a:solidFill>
                <a:latin typeface="Arial"/>
                <a:ea typeface="Arial"/>
                <a:cs typeface="Arial"/>
              </a:rPr>
              <a:t>40 notas · seleção de 5 notas e 20 trechos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BCBB4D-8FD2-4975-81B5-1DAB991B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76725"/>
            <a:ext cx="499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2BFFF"/>
                </a:solidFill>
                <a:latin typeface="Arial"/>
                <a:ea typeface="Arial"/>
                <a:cs typeface="Arial"/>
              </a:rPr>
              <a:t>11.696 → 5.862 caracteres (−49,9%)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CC9C67-E640-4889-A987-D5565AAC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00575"/>
            <a:ext cx="499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Reproduza com dados de demonstração:</a:t>
            </a:r>
          </a:p>
          <a:p xmlns:a="http://schemas.openxmlformats.org/drawingml/2006/main">
            <a:pPr>
              <a:buNone/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python3 tools/benchmark_busca.py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575D0C-687A-45F2-BB84-078D219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33975"/>
            <a:ext cx="499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313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Cenário distinto da medição local de 60,9%.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508A3F-17E1-4547-977D-467497A9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10200"/>
            <a:ext cx="11125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Menos texto repetido para recuperar o mesmo contexto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4807C5-CBCF-4E93-B825-7C443AC1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34050"/>
            <a:ext cx="1112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88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pPr>
            <a:r>
              <a:rPr sz="1388" b="0">
                <a:solidFill>
                  <a:srgbClr val="92BFFF"/>
                </a:solidFill>
                <a:latin typeface="Arial"/>
                <a:ea typeface="Arial"/>
                <a:cs typeface="Arial"/>
              </a:rPr>
              <a:t>Medição da busca; tokens totais, latência e produtividade não foram medidos.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6EDD20-AC63-490E-8480-3172ED1D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DEC9"/>
                </a:solidFill>
                <a:latin typeface="Arial"/>
                <a:ea typeface="Arial"/>
                <a:cs typeface="Arial"/>
              </a:rPr>
              <a:t>Mensalidade: R$ 0 de desconto. A redução medida é de caracteres por consulta.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C544F0-F3F1-4B8C-8779-F777E88F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Consulta local em 16/10/2026 · versão 663803e · notas pessoais não publicadas.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8916E3-D514-4D87-97D1-FE2D34CC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0"/>
            <a:ext cx="11125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8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8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Um cenário de consulta, não uma média das IAs. Método e reprodução: docs/BENCHMARK.md.</a:t>
            </a:r>
          </a:p>
        </p:txBody>
      </p:sp>
    </p:spTree>
    <p:extLst>
      <p:ext uri="{BB962C8B-B14F-4D97-AF65-F5344CB8AC3E}">
        <p14:creationId xmlns:p14="http://schemas.microsoft.com/office/powerpoint/2010/main" val="5762530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creator>Nicholas Birochi</dc:creator>
  <ns0:lastModifiedBy>Nicholas Birochi</ns0:lastModifiedBy>
  <dc:title>Presentation</dc:title>
  <ns2:created xsi:type="dcterms:W3CDTF">2026-10-16T19:01:15.4810000Z</ns2:created>
  <ns2:modified xsi:type="dcterms:W3CDTF">2026-10-16T19:01:15.4810000Z</ns2:modified>
</ns0:coreProperties>
</file>
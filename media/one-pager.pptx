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1c1144a0ad4954" /><Relationship Type="http://schemas.openxmlformats.org/officeDocument/2006/relationships/extended-properties" Target="/docProps/app.xml" Id="R253def1ccca54c87" /><Relationship Type="http://schemas.openxmlformats.org/officeDocument/2006/relationships/officeDocument" Target="/ppt/presentation.xml" Id="R31e0702dc47149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fd23f08cd594c93"/>
  </p:sldMasterIdLst>
  <p:notesMasterIdLst>
    <p:notesMasterId xmlns:r="http://schemas.openxmlformats.org/officeDocument/2006/relationships" r:id="Rbc9c9e03c80c4e29"/>
  </p:notesMasterIdLst>
  <p:sldIdLst>
    <p:sldId xmlns:r="http://schemas.openxmlformats.org/officeDocument/2006/relationships" id="256" r:id="R841bca4cad03494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966f7bed219405f" /><Relationship Type="http://schemas.openxmlformats.org/officeDocument/2006/relationships/slideMaster" Target="/ppt/slideMasters/slideMaster1.xml" Id="R7fd23f08cd594c93" /><Relationship Type="http://schemas.openxmlformats.org/officeDocument/2006/relationships/notesMaster" Target="/ppt/notesMasters/notesMaster1.xml" Id="Rbc9c9e03c80c4e29" /><Relationship Type="http://schemas.openxmlformats.org/officeDocument/2006/relationships/presProps" Target="/ppt/presProps.xml" Id="R3b80207bc9554c0f" /><Relationship Type="http://schemas.openxmlformats.org/officeDocument/2006/relationships/tableStyles" Target="/ppt/tableStyles.xml" Id="R46d39758d1e14ad1" /><Relationship Type="http://schemas.openxmlformats.org/officeDocument/2006/relationships/slide" Target="/ppt/slides/slide1.xml" Id="R841bca4cad0349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2d640ad4403483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fe4dddf115e430b" /><Relationship Type="http://schemas.openxmlformats.org/officeDocument/2006/relationships/notesMaster" Target="/ppt/notesMasters/notesMaster1.xml" Id="R0a3b72d0895443e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Cenário ilustrativo solicitado pelo usuário; não é benchmark histórico e não representa redução medida.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1.000.000 − 400.000 + 100.000 = 700.000 tokens/dia do principal. 40% da execução é delegada e a preparação/revisão custa 10% do volume original. Economia líquida no principal: 300.000/dia, 1.500.000/semana (5 dias), 6.600.000/mês (22 dias). Entre todas as IAs o cenário pode somar 1.100.000 tokens/dia: a delegação preserva a franquia principal, sem afirmar redução do total global. Tokenizadores e contabilização dos provedores variam.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Médias da mesma demanda distribuída em 8h/dia: antes 2.083,33 tokens/min e 125.000/h; depois 1.458,33/min e 87.500/h; diferença 625/min ou 37.500/h. Minutos arredondados apenas na apresentação. Semanas e meses são úteis, não calendário.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R$36/milhão é premissa hipotética de processamento de API, mantida para comparar este exemplo; não afirma preço atual de um modelo, câmbio atual nem cobrança observada. Antes R$36/dia, agora R$25,20/dia, diferença R$10,80/dia, R$54/semana e R$237,60/mês. O usuário informou mensalidade igual: economia financeira na assinatura é R$0. Os R$237,60 são duzentos e trinta e sete reais e sessenta centavos de processamento equivalente de API, não desconto nem despesa observada. Com mais entregas pela mesma mensalidade, o custo médio por entrega pode cair. Exemplo meramente aritmético: mensalidade M / 10 entregas versus M / 14 entregas, redução de28,6% por entrega. Não há medição do número de entregas ou da espera real. O cenário assume acesso auxiliar incluído ou local, com margem disponível e sem cobrança avulsa; energia e tokens dos auxiliares não foram precificados.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Ociosidade: se um orçamento modelado em tokens antes sustentava 6h da demanda de uma jornada de 8h, a demanda principal 30% menor sustentaria 6/0,7=8,57h. Nessas condições a espera poderia cair de2h/dia para0h/dia, liberando até10h/semana ou44h/mês. Esta é uma hipótese de continuidade, não medição de latência, bloqueios ou qualidade. Limites reais não são necessariamente cotas fixas de tokens.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Exemplos representam capacidades textuais sob demanda: Ollama resume texto local; Copilot sugere testes a partir de função fornecida; OpenCode/Nemotron analisa trecho público de erro. Principal escolhe contexto permitido, passa a delegação pelo roteador, revisa e aplica. Copilot, Ollama e OpenCode/Nemotron são destinos na mesma camada, com elegibilidade distinta por tarefa, cota e recursos. Integração de Copilot no helper aplicada e validada em14/10/2026; detalhes da implantação devem ser relatados separadamente, sem tratar esta simulação como prova de economia.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e039fb44cf4d3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9f068d5739432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f33bbbadbf43a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4448989406425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36be5d509f4b9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86594716fb4bc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2B9C44B-CEB7-48E5-A4AB-9204620FCD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563BA4A-2AB4-4B70-BDAE-841C39FF0C4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C667B96-F746-4FB9-B514-AD97CB5435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293D361-9101-454F-8F81-AACF04ABCE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52D83E6-5D72-4A63-8FBE-374F8B6DCB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D1DEFDC-F6F1-4E8B-B315-FF97EE7726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06C76A5-1377-413D-B77F-A5F9EC35A5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2336450-ADE1-4436-BAB4-00A43E5A148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2CBE39E-090F-4086-ACBF-8CF623B0F3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7FB93EA-BF20-4B6A-A880-FF36811F53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1d930d5e53a46b2" /><Relationship Type="http://schemas.openxmlformats.org/officeDocument/2006/relationships/slideLayout" Target="/ppt/slideLayouts/slideLayout1.xml" Id="Rc1801f6a62b744cc" /><Relationship Type="http://schemas.openxmlformats.org/officeDocument/2006/relationships/slideLayout" Target="/ppt/slideLayouts/slideLayout2.xml" Id="R5a9e5649e86548af" /><Relationship Type="http://schemas.openxmlformats.org/officeDocument/2006/relationships/slideLayout" Target="/ppt/slideLayouts/slideLayout3.xml" Id="R7e8f3d7c888e4e9b" /><Relationship Type="http://schemas.openxmlformats.org/officeDocument/2006/relationships/slideLayout" Target="/ppt/slideLayouts/slideLayout4.xml" Id="Rc8df512d408c48c8" /><Relationship Type="http://schemas.openxmlformats.org/officeDocument/2006/relationships/slideLayout" Target="/ppt/slideLayouts/slideLayout5.xml" Id="R6687e298e21d47c1" /><Relationship Type="http://schemas.openxmlformats.org/officeDocument/2006/relationships/slideLayout" Target="/ppt/slideLayouts/slideLayout6.xml" Id="Ra42f588b204d4fe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1801f6a62b744cc"/>
    <p:sldLayoutId xmlns:r="http://schemas.openxmlformats.org/officeDocument/2006/relationships" id="2147483650" r:id="R5a9e5649e86548af"/>
    <p:sldLayoutId xmlns:r="http://schemas.openxmlformats.org/officeDocument/2006/relationships" id="2147483651" r:id="R7e8f3d7c888e4e9b"/>
    <p:sldLayoutId xmlns:r="http://schemas.openxmlformats.org/officeDocument/2006/relationships" id="2147483652" r:id="Rc8df512d408c48c8"/>
    <p:sldLayoutId xmlns:r="http://schemas.openxmlformats.org/officeDocument/2006/relationships" id="2147483653" r:id="R6687e298e21d47c1"/>
    <p:sldLayoutId xmlns:r="http://schemas.openxmlformats.org/officeDocument/2006/relationships" id="2147483654" r:id="Ra42f588b204d4fe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17db566a4f4eb0" /><Relationship Type="http://schemas.openxmlformats.org/officeDocument/2006/relationships/chart" Target="/ppt/slides/charts/chart1.xml" Id="R51637a1f667b44a8" /><Relationship Type="http://schemas.openxmlformats.org/officeDocument/2006/relationships/notesSlide" Target="/ppt/notesSlides/notesSlide1.xml" Id="R4e6c7024e155423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1"/>
        <c:ser>
          <c:idx val="0"/>
          <c:order val="0"/>
          <c:tx>
            <c:v>Tokens do principal por dia</c:v>
          </c:tx>
          <c:invertIfNegative val="0"/>
          <c:dPt>
            <c:idx val="0"/>
            <c:invertIfNegative val="0"/>
            <c:spPr>
              <a:solidFill xmlns:a="http://schemas.openxmlformats.org/drawingml/2006/main">
                <a:srgbClr val="70DEC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607487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800" b="1">
                        <a:solidFill>
                          <a:srgbClr val="101923"/>
                        </a:solidFill>
                        <a:latin typeface="Arial"/>
                        <a:ea typeface="Arial"/>
                        <a:cs typeface="Arial"/>
                      </a:rPr>
                      <a:t>700 mil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800" b="1">
                      <a:solidFill>
                        <a:srgbClr val="101923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inEnd"/>
              <c:showVal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800" b="1">
                        <a:solidFill>
                          <a:srgbClr val="F5F6F0"/>
                        </a:solidFill>
                        <a:latin typeface="Arial"/>
                        <a:ea typeface="Arial"/>
                        <a:cs typeface="Arial"/>
                      </a:rPr>
                      <a:t>1 milhão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800" b="1">
                      <a:solidFill>
                        <a:srgbClr val="F5F6F0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inEnd"/>
              <c:showVal val="0"/>
            </c:dLbl>
          </c:dLbls>
          <c:cat>
            <c:strRef>
              <c:f>'Chart Data'!$A$2:$A$3</c:f>
              <c:strCache>
                <c:ptCount val="2"/>
                <c:pt idx="0">
                  <c:v>Agora</c:v>
                </c:pt>
                <c:pt idx="1">
                  <c:v>Antes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700000</c:v>
                </c:pt>
                <c:pt idx="1">
                  <c:v>1000000</c:v>
                </c:pt>
              </c:numCache>
            </c:numRef>
          </c:val>
        </c:ser>
        <c:dLbls>
          <c:delete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100000"/>
          <c:min val="0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101923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101923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92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49E381-6774-4E56-BC9A-83F7CA70D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11125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70DEC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70DE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0DEC9"/>
                </a:solidFill>
                <a:latin typeface="Arial"/>
                <a:ea typeface="Arial"/>
                <a:cs typeface="Arial"/>
              </a:rPr>
              <a:t>SIMULAÇÃO · MESMO TRABALHO · MESMA MENSALIDADE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A314CE-6A2F-46B4-ABFD-2652AD2D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1025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75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75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6F0"/>
                </a:solidFill>
                <a:latin typeface="Arial"/>
                <a:ea typeface="Arial"/>
                <a:cs typeface="Arial"/>
              </a:rPr>
              <a:t>30% menos tokens no principal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A04C1A-E9BA-4E56-9BBF-802B400A2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11125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8C5"/>
                </a:solidFill>
                <a:latin typeface="Arial"/>
                <a:ea typeface="Arial"/>
                <a:cs typeface="Arial"/>
              </a:rPr>
              <a:t>Claude ou Codex coordena. O roteador distribui a execução e o principal revisa.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E048EF-72FF-4FE5-9E28-7BC25579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8C5"/>
                </a:solidFill>
                <a:latin typeface="Arial"/>
                <a:ea typeface="Arial"/>
                <a:cs typeface="Arial"/>
              </a:rPr>
              <a:t>Consumo diário do principal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0EE0A955-9C23-48E6-B390-09C900663FF2}"/>
              </a:ext>
            </a:extLst>
          </p:cNvPr>
          <p:cNvGraphicFramePr/>
          <p:nvPr/>
        </p:nvGraphicFramePr>
        <p:xfrm>
          <a:off xmlns:a="http://schemas.openxmlformats.org/drawingml/2006/main" x="533400" y="1847850"/>
          <a:ext xmlns:a="http://schemas.openxmlformats.org/drawingml/2006/main" cx="4133850" cy="1257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1637a1f667b44a8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30BE0E-B0A6-4D99-8076-41DC17CBC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57525"/>
            <a:ext cx="413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70DEC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70DEC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0DEC9"/>
                </a:solidFill>
                <a:latin typeface="Arial"/>
                <a:ea typeface="Arial"/>
                <a:cs typeface="Arial"/>
              </a:rPr>
              <a:t>300 mil tokens a menos por dia (30%)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45B421-8C98-4C8C-9E95-61B673161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504950"/>
            <a:ext cx="657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5F6F0"/>
                </a:solidFill>
                <a:latin typeface="Arial"/>
                <a:ea typeface="Arial"/>
                <a:cs typeface="Arial"/>
              </a:rPr>
              <a:t>A conta, com o mesmo trabalho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338BA4-7C9D-40DB-8AFD-C0A806B4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924050"/>
            <a:ext cx="6572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70DEC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70DEC9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70DEC9"/>
                </a:solidFill>
                <a:latin typeface="Arial"/>
                <a:ea typeface="Arial"/>
                <a:cs typeface="Arial"/>
              </a:rPr>
              <a:t>1.000.000 − 400.000 + 100.000 = 700.000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ADE662-877D-4CD6-82B8-8A04BE05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390775"/>
            <a:ext cx="6572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F5F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5F6F0"/>
                </a:solidFill>
                <a:latin typeface="Arial"/>
                <a:ea typeface="Arial"/>
                <a:cs typeface="Arial"/>
              </a:rPr>
              <a:t>400 mil tokens de execução vão aos auxiliares (40%).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55CE58-E17E-49DB-B061-37E9B3C79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667000"/>
            <a:ext cx="6572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F5F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5F6F0"/>
                </a:solidFill>
                <a:latin typeface="Arial"/>
                <a:ea typeface="Arial"/>
                <a:cs typeface="Arial"/>
              </a:rPr>
              <a:t>100 mil tokens ficam para preparar e revisar (10%).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8A7876-FFD8-47F2-9099-69F335716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97180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70DEC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70DEC9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70DEC9"/>
                </a:solidFill>
                <a:latin typeface="Arial"/>
                <a:ea typeface="Arial"/>
                <a:cs typeface="Arial"/>
              </a:rPr>
              <a:t>300 mil tokens do principal preservados por dia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7BB1EB-3E87-4413-9747-F1529AC5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267075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8C5"/>
                </a:solidFill>
                <a:latin typeface="Arial"/>
                <a:ea typeface="Arial"/>
                <a:cs typeface="Arial"/>
              </a:rPr>
              <a:t>O total entre as IAs pode chegar a 1,1 milhão/dia neste exemplo.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3520EE-BF46-4BA9-8B44-3C49FAB36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62325"/>
            <a:ext cx="5715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AB8C5"/>
                </a:solidFill>
                <a:latin typeface="Arial"/>
                <a:ea typeface="Arial"/>
                <a:cs typeface="Arial"/>
              </a:rPr>
              <a:t>Tokens do principal · médias em 8h de trabalho</a:t>
            </a:r>
          </a:p>
        </p:txBody>
      </p:sp>
      <p:graphicFrame>
        <p:nvGraphicFrame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024B88-2632-438F-816D-99F40B4C2625}"/>
              </a:ext>
            </a:extLst>
          </p:cNvPr>
          <p:cNvGraphicFramePr/>
          <p:nvPr/>
        </p:nvGraphicFramePr>
        <p:xfrm>
          <a:off xmlns:a="http://schemas.openxmlformats.org/drawingml/2006/main" x="533400" y="3657600"/>
          <a:ext xmlns:a="http://schemas.openxmlformats.org/drawingml/2006/main" cx="5715000" cy="1428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143000"/>
                <a:gridCol w="1381125"/>
                <a:gridCol w="1476375"/>
                <a:gridCol w="1714500"/>
              </a:tblGrid>
              <a:tr h="238125"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1">
                          <a:solidFill>
                            <a:srgbClr val="AAB8C5"/>
                          </a:solidFill>
                          <a:latin typeface="Arial"/>
                          <a:ea typeface="Arial"/>
                          <a:cs typeface="Arial"/>
                        </a:rPr>
                        <a:t>Período</a:t>
                      </a:r>
                    </a:p>
                  </a:txBody>
                  <a:tcPr marL="95250" marR="9525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1">
                          <a:solidFill>
                            <a:srgbClr val="AAB8C5"/>
                          </a:solidFill>
                          <a:latin typeface="Arial"/>
                          <a:ea typeface="Arial"/>
                          <a:cs typeface="Arial"/>
                        </a:rPr>
                        <a:t>Antes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1">
                          <a:solidFill>
                            <a:srgbClr val="AAB8C5"/>
                          </a:solidFill>
                          <a:latin typeface="Arial"/>
                          <a:ea typeface="Arial"/>
                          <a:cs typeface="Arial"/>
                        </a:rPr>
                        <a:t>Agora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1">
                          <a:solidFill>
                            <a:srgbClr val="AAB8C5"/>
                          </a:solidFill>
                          <a:latin typeface="Arial"/>
                          <a:ea typeface="Arial"/>
                          <a:cs typeface="Arial"/>
                        </a:rPr>
                        <a:t>A menos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</a:tr>
              <a:tr h="238125"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Minuto</a:t>
                      </a:r>
                    </a:p>
                  </a:txBody>
                  <a:tcPr marL="95250" marR="95250" marT="0" marB="0" anchor="ctr">
                    <a:lnL w="0">
                      <a:noFill/>
                    </a:lnL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2.083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1.458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70DEC9"/>
                          </a:solidFill>
                          <a:latin typeface="Arial"/>
                          <a:ea typeface="Arial"/>
                          <a:cs typeface="Arial"/>
                        </a:rPr>
                        <a:t>625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</a:tr>
              <a:tr h="238125"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Hora</a:t>
                      </a:r>
                    </a:p>
                  </a:txBody>
                  <a:tcPr marL="95250" marR="95250" marT="0" marB="0" anchor="ctr">
                    <a:lnL w="0">
                      <a:noFill/>
                    </a:lnL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125 mil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87,5 mil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70DEC9"/>
                          </a:solidFill>
                          <a:latin typeface="Arial"/>
                          <a:ea typeface="Arial"/>
                          <a:cs typeface="Arial"/>
                        </a:rPr>
                        <a:t>37,5 mil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</a:tr>
              <a:tr h="238125"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Dia</a:t>
                      </a:r>
                    </a:p>
                  </a:txBody>
                  <a:tcPr marL="95250" marR="95250" marT="0" marB="0" anchor="ctr">
                    <a:lnL w="0">
                      <a:noFill/>
                    </a:lnL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1 milhão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700 mil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70DEC9"/>
                          </a:solidFill>
                          <a:latin typeface="Arial"/>
                          <a:ea typeface="Arial"/>
                          <a:cs typeface="Arial"/>
                        </a:rPr>
                        <a:t>300 mil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</a:tr>
              <a:tr h="238125"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Semana</a:t>
                      </a:r>
                    </a:p>
                  </a:txBody>
                  <a:tcPr marL="95250" marR="95250" marT="0" marB="0" anchor="ctr">
                    <a:lnL w="0">
                      <a:noFill/>
                    </a:lnL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5 milhões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3,5 milhões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70DEC9"/>
                          </a:solidFill>
                          <a:latin typeface="Arial"/>
                          <a:ea typeface="Arial"/>
                          <a:cs typeface="Arial"/>
                        </a:rPr>
                        <a:t>1,5 milhão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</a:tr>
              <a:tr h="238125"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Mês</a:t>
                      </a:r>
                    </a:p>
                  </a:txBody>
                  <a:tcPr marL="95250" marR="95250" marT="0" marB="0" anchor="ctr">
                    <a:lnL w="0">
                      <a:noFill/>
                    </a:lnL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22 milhões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F5F6F0"/>
                          </a:solidFill>
                          <a:latin typeface="Arial"/>
                          <a:ea typeface="Arial"/>
                          <a:cs typeface="Arial"/>
                        </a:rPr>
                        <a:t>15,4 milhões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  <a:tc>
                  <a:txBody>
                    <a:bodyPr wrap="square" lIns="0" tIns="0" rIns="0" bIns="0">
                      <a:noAutofit/>
                    </a:bodyPr>
                    <a:lstStyle/>
                    <a:p>
                      <a:pPr algn="l"/>
                      <a:r>
                        <a:rPr sz="1313" b="0">
                          <a:solidFill>
                            <a:srgbClr val="70DEC9"/>
                          </a:solidFill>
                          <a:latin typeface="Arial"/>
                          <a:ea typeface="Arial"/>
                          <a:cs typeface="Arial"/>
                        </a:rPr>
                        <a:t>6,6 milhões</a:t>
                      </a:r>
                    </a:p>
                  </a:txBody>
                  <a:tcPr marL="95250" marR="95250" marT="0" marB="0" anchor="ctr">
                    <a:lnR w="0">
                      <a:noFill/>
                    </a:lnR>
                    <a:lnB w="0">
                      <a:noFill/>
                    </a:lnB>
                    <a:solidFill>
                      <a:srgbClr val="101923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FAC1FC-4FAE-4E95-8F62-20670D4D0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00450"/>
            <a:ext cx="4991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5F6F0"/>
                </a:solidFill>
                <a:latin typeface="Arial"/>
                <a:ea typeface="Arial"/>
                <a:cs typeface="Arial"/>
              </a:rPr>
              <a:t>Exemplos de trabalho delegado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DE3D6B-E13B-4D25-BB2B-9CA9CF9D9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52875"/>
            <a:ext cx="4991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70DEC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70DEC9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70DEC9"/>
                </a:solidFill>
                <a:latin typeface="Arial"/>
                <a:ea typeface="Arial"/>
                <a:cs typeface="Arial"/>
              </a:rPr>
              <a:t>Ollama · resumir um texto local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BCBB4D-8FD2-4975-81B5-1DAB991B8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76725"/>
            <a:ext cx="4991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92B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92B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2BFFF"/>
                </a:solidFill>
                <a:latin typeface="Arial"/>
                <a:ea typeface="Arial"/>
                <a:cs typeface="Arial"/>
              </a:rPr>
              <a:t>Copilot · sugerir testes para uma função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CC9C67-E640-4889-A987-D5565AAC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00575"/>
            <a:ext cx="4991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F5F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5F6F0"/>
                </a:solidFill>
                <a:latin typeface="Arial"/>
                <a:ea typeface="Arial"/>
                <a:cs typeface="Arial"/>
              </a:rPr>
              <a:t>OpenCode/Nemotron · analisar um erro</a:t>
            </a:r>
          </a:p>
          <a:p xmlns:a="http://schemas.openxmlformats.org/drawingml/2006/main">
            <a:pPr>
              <a:defRPr sz="1425" b="0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5F6F0"/>
                </a:solidFill>
                <a:latin typeface="Arial"/>
                <a:ea typeface="Arial"/>
                <a:cs typeface="Arial"/>
              </a:rPr>
              <a:t>com um trecho público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575D0C-687A-45F2-BB84-078D2199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33975"/>
            <a:ext cx="499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13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13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pPr>
            <a:r>
              <a:rPr sz="1313" b="0">
                <a:solidFill>
                  <a:srgbClr val="AAB8C5"/>
                </a:solidFill>
                <a:latin typeface="Arial"/>
                <a:ea typeface="Arial"/>
                <a:cs typeface="Arial"/>
              </a:rPr>
              <a:t>O principal confere e aplica o resultado.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508A3F-17E1-4547-977D-467497A9F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10200"/>
            <a:ext cx="11125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6F0"/>
                </a:solidFill>
                <a:latin typeface="Arial"/>
                <a:ea typeface="Arial"/>
                <a:cs typeface="Arial"/>
              </a:rPr>
              <a:t>Cota preservada pode reduzir o tempo parado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4807C5-CBCF-4E93-B825-7C443AC1A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34050"/>
            <a:ext cx="11125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88" b="0">
                <a:solidFill>
                  <a:srgbClr val="92B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88" b="0">
                <a:solidFill>
                  <a:srgbClr val="92BFFF"/>
                </a:solidFill>
                <a:latin typeface="Arial"/>
                <a:ea typeface="Arial"/>
                <a:cs typeface="Arial"/>
              </a:defRPr>
            </a:pPr>
            <a:r>
              <a:rPr sz="1388" b="0">
                <a:solidFill>
                  <a:srgbClr val="92BFFF"/>
                </a:solidFill>
                <a:latin typeface="Arial"/>
                <a:ea typeface="Arial"/>
                <a:cs typeface="Arial"/>
              </a:rPr>
              <a:t>Neste cenário: até 2h/dia, 10h/semana ou 44h/mês de espera evitada, com auxiliares disponíveis.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6EDD20-AC63-490E-8480-3172ED1DD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96000"/>
            <a:ext cx="11125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0DEC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0DEC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0DEC9"/>
                </a:solidFill>
                <a:latin typeface="Arial"/>
                <a:ea typeface="Arial"/>
                <a:cs typeface="Arial"/>
              </a:rPr>
              <a:t>Equivalência de API: R$ 10,80/dia, R$ 54/semana e R$ 237,60/mês, a R$ 36/milhão hipotéticos.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C544F0-F3F1-4B8C-8779-F777E88F1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11125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F5F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5F6F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5F6F0"/>
                </a:solidFill>
                <a:latin typeface="Arial"/>
                <a:ea typeface="Arial"/>
                <a:cs typeface="Arial"/>
              </a:rPr>
              <a:t>Equivalência na mensalidade: R$ 0 de desconto. Ganho potencial: mais entregas e menos espera.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8916E3-D514-4D87-97D1-FE2D34CC1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0"/>
            <a:ext cx="11125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825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AAB8C5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AAB8C5"/>
                </a:solidFill>
                <a:latin typeface="Arial"/>
                <a:ea typeface="Arial"/>
                <a:cs typeface="Arial"/>
              </a:rPr>
              <a:t>Simulação, não medição. 8h/dia, 5 dias/semana, 22 dias/mês e cota antes de 6h. Limites reais variam. Energia e tokens auxiliares fora do cálculo.</a:t>
            </a:r>
          </a:p>
        </p:txBody>
      </p:sp>
    </p:spTree>
    <p:extLst>
      <p:ext uri="{BB962C8B-B14F-4D97-AF65-F5344CB8AC3E}">
        <p14:creationId xmlns:p14="http://schemas.microsoft.com/office/powerpoint/2010/main" val="5762530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1</ap:Slides>
  <ap:Notes>1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Nicholas Birochi</dc:creator>
  <lastModifiedBy>Nicholas Birochi</lastModifiedBy>
  <dc:title>Presentation</dc:title>
  <dcterms:created xsi:type="dcterms:W3CDTF">2026-10-14T04:15:39.9410000Z</dcterms:created>
  <dcterms:modified xsi:type="dcterms:W3CDTF">2026-10-14T04:15:39.9410000Z</dcterms:modified>
</coreProperties>
</file>
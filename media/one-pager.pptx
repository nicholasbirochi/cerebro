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9c4ee4a6824597" /><Relationship Type="http://schemas.openxmlformats.org/officeDocument/2006/relationships/extended-properties" Target="/docProps/app.xml" Id="Rc17f294f8eaf498f" /><Relationship Type="http://schemas.openxmlformats.org/officeDocument/2006/relationships/officeDocument" Target="/ppt/presentation.xml" Id="Re40060fd028f43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da7c71a6b343e0"/>
  </p:sldMasterIdLst>
  <p:notesMasterIdLst>
    <p:notesMasterId xmlns:r="http://schemas.openxmlformats.org/officeDocument/2006/relationships" r:id="Rfda922835a1d4399"/>
  </p:notesMasterIdLst>
  <p:sldIdLst>
    <p:sldId xmlns:r="http://schemas.openxmlformats.org/officeDocument/2006/relationships" id="256" r:id="R52ee033a584d446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fe51537e0d4f7f" /><Relationship Type="http://schemas.openxmlformats.org/officeDocument/2006/relationships/slideMaster" Target="/ppt/slideMasters/slideMaster1.xml" Id="R64da7c71a6b343e0" /><Relationship Type="http://schemas.openxmlformats.org/officeDocument/2006/relationships/notesMaster" Target="/ppt/notesMasters/notesMaster1.xml" Id="Rfda922835a1d4399" /><Relationship Type="http://schemas.openxmlformats.org/officeDocument/2006/relationships/presProps" Target="/ppt/presProps.xml" Id="R3275aae989424dc8" /><Relationship Type="http://schemas.openxmlformats.org/officeDocument/2006/relationships/tableStyles" Target="/ppt/tableStyles.xml" Id="Rb32406049ed64f41" /><Relationship Type="http://schemas.openxmlformats.org/officeDocument/2006/relationships/slide" Target="/ppt/slides/slide1.xml" Id="R52ee033a584d44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51ab8c28d046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83864412d14057" /><Relationship Type="http://schemas.openxmlformats.org/officeDocument/2006/relationships/notesMaster" Target="/ppt/notesMasters/notesMaster1.xml" Id="R2d70089621bc41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Cenário ilustrativo solicitado pelo usuário; não é benchmark histórico e não representa redução medida.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1.000.000 − 400.000 + 100.000 = 700.000 tokens/dia do principal. 40% da execução é delegada e a preparação/revisão custa 10% do volume original. Economia líquida no principal: 300.000/dia, 1.500.000/semana (5 dias), 6.600.000/mês (22 dias). Entre todas as IAs o cenário pode somar 1.100.000 tokens/dia: a delegação preserva a franquia principal, sem afirmar redução do total global. Tokenizadores e contabilização dos provedores variam.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Médias da mesma demanda distribuída em 8h/dia: antes 2.083,33 tokens/min e 125.000/h; depois 1.458,33/min e 87.500/h; diferença 625/min ou 37.500/h. Minutos arredondados apenas na apresentação. Semanas e meses são úteis, não calendário.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R$36/milhão é premissa hipotética de processamento de API, mantida para comparar este exemplo; não afirma preço atual de um modelo, câmbio atual nem cobrança observada. Antes R$36/dia, agora R$25,20/dia, diferença R$10,80/dia, R$54/semana e R$237,60/mês. O usuário informou mensalidade igual: não há desconto na assinatura. O cenário assume acesso auxiliar incluído ou local, com margem disponível e sem cobrança avulsa; energia e tokens dos auxiliares não foram precificados.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Ociosidade: se um orçamento modelado em tokens antes sustentava 6h da demanda de uma jornada de 8h, a demanda principal 30% menor sustentaria 6/0,7=8,57h. Nessas condições a espera poderia cair de2h/dia para0h/dia, liberando até10h/semana ou44h/mês. Esta é uma hipótese de continuidade, não medição de latência, bloqueios ou qualidade. Limites reais não são necessariamente cotas fixas de tokens.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Exemplos representam capacidades textuais sob demanda: Ollama resume texto local; Copilot sugere testes a partir de função fornecida; OpenCode/Nemotron analisa trecho público de erro. Principal escolhe contexto permitido, passa a delegação pelo roteador, revisa e aplica. Copilot, Ollama e OpenCode/Nemotron são destinos na mesma camada, com elegibilidade distinta por tarefa, cota e recursos. Integração de Copilot no helper aplicada e validada em14/10/2026; detalhes da implantação devem ser relatados separadamente, sem tratar esta simulação como prova de economia.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9674b6b88e45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d052f008764b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60763d719040e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d31e0df5e742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3f0bba516a42c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e95d32497f45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8AF395-A714-4FF6-97B7-6587FBC693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704D67-0B9E-4B4D-968E-036E1D80CFC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13990F2-5514-4186-B71D-FFE9E9ED1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A11708-FC1B-488F-8E4A-BCC1D78BF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F091CAE-1993-4451-A32A-580972A8FE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77FF309-90E3-4A22-902A-A3A35E8A4B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7D7BA6E-3EA4-4C28-8C5F-5B39880173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69CE1E0-E7A4-4ED5-B244-8C62C55039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71E0DB-446A-49A4-B9DF-6753088459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71AFDF7-4873-4D85-BD8D-CC7E25484B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fb7963217847c6" /><Relationship Type="http://schemas.openxmlformats.org/officeDocument/2006/relationships/slideLayout" Target="/ppt/slideLayouts/slideLayout1.xml" Id="R77d386b959484af7" /><Relationship Type="http://schemas.openxmlformats.org/officeDocument/2006/relationships/slideLayout" Target="/ppt/slideLayouts/slideLayout2.xml" Id="R9b5fb433e61049cd" /><Relationship Type="http://schemas.openxmlformats.org/officeDocument/2006/relationships/slideLayout" Target="/ppt/slideLayouts/slideLayout3.xml" Id="R5df1550d812a4221" /><Relationship Type="http://schemas.openxmlformats.org/officeDocument/2006/relationships/slideLayout" Target="/ppt/slideLayouts/slideLayout4.xml" Id="R7b0b1fd930254326" /><Relationship Type="http://schemas.openxmlformats.org/officeDocument/2006/relationships/slideLayout" Target="/ppt/slideLayouts/slideLayout5.xml" Id="Rc5a2286916ab4445" /><Relationship Type="http://schemas.openxmlformats.org/officeDocument/2006/relationships/slideLayout" Target="/ppt/slideLayouts/slideLayout6.xml" Id="R9301a0d636d744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d386b959484af7"/>
    <p:sldLayoutId xmlns:r="http://schemas.openxmlformats.org/officeDocument/2006/relationships" id="2147483650" r:id="R9b5fb433e61049cd"/>
    <p:sldLayoutId xmlns:r="http://schemas.openxmlformats.org/officeDocument/2006/relationships" id="2147483651" r:id="R5df1550d812a4221"/>
    <p:sldLayoutId xmlns:r="http://schemas.openxmlformats.org/officeDocument/2006/relationships" id="2147483652" r:id="R7b0b1fd930254326"/>
    <p:sldLayoutId xmlns:r="http://schemas.openxmlformats.org/officeDocument/2006/relationships" id="2147483653" r:id="Rc5a2286916ab4445"/>
    <p:sldLayoutId xmlns:r="http://schemas.openxmlformats.org/officeDocument/2006/relationships" id="2147483654" r:id="R9301a0d636d744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613085e3384b7a" /><Relationship Type="http://schemas.openxmlformats.org/officeDocument/2006/relationships/chart" Target="/ppt/slides/charts/chart1.xml" Id="Rb38dc8f509c44e0e" /><Relationship Type="http://schemas.openxmlformats.org/officeDocument/2006/relationships/notesSlide" Target="/ppt/notesSlides/notesSlide1.xml" Id="R7e033792c9734d3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Tokens do principal por dia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607487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0DEC9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2025" b="1">
                        <a:solidFill>
                          <a:srgbClr val="F5F6F0"/>
                        </a:solidFill>
                        <a:latin typeface="Arial"/>
                        <a:ea typeface="Arial"/>
                        <a:cs typeface="Arial"/>
                      </a:rPr>
                      <a:t>1 milhão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2025" b="1">
                      <a:solidFill>
                        <a:srgbClr val="F5F6F0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2025" b="1">
                        <a:solidFill>
                          <a:srgbClr val="70DEC9"/>
                        </a:solidFill>
                        <a:latin typeface="Arial"/>
                        <a:ea typeface="Arial"/>
                        <a:cs typeface="Arial"/>
                      </a:rPr>
                      <a:t>700 mil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2025" b="1">
                      <a:solidFill>
                        <a:srgbClr val="70DEC9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</c:dLbls>
          <c:cat>
            <c:strRef>
              <c:f>'Chart Data'!$A$2:$A$3</c:f>
              <c:strCache>
                <c:ptCount val="2"/>
                <c:pt idx="0">
                  <c:v>Antes</c:v>
                </c:pt>
                <c:pt idx="1">
                  <c:v>Agora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1000000</c:v>
                </c:pt>
                <c:pt idx="1">
                  <c:v>700000</c:v>
                </c:pt>
              </c:numCache>
            </c:numRef>
          </c:val>
        </c:ser>
        <c:dLbls>
          <c:delete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00000"/>
          <c:min val="0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101923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01923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8CE783-9A9B-419F-BE14-2A714048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SIMULAÇÃO · MESMO TRABALHO · MESMA MENSALIDADE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5D082-B4AE-4775-9A62-8CCDBCDD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30% menos tokens no principal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6A16BD-B659-4265-9586-69A0C5B8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125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Claude ou Codex coordena. O roteador distribui a execução e o principal revisa.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62EC5842-EF53-4D69-87C5-8F441020D3DB}"/>
              </a:ext>
            </a:extLst>
          </p:cNvPr>
          <p:cNvGraphicFramePr/>
          <p:nvPr/>
        </p:nvGraphicFramePr>
        <p:xfrm>
          <a:off xmlns:a="http://schemas.openxmlformats.org/drawingml/2006/main" x="533400" y="1504950"/>
          <a:ext xmlns:a="http://schemas.openxmlformats.org/drawingml/2006/main" cx="4000500" cy="1571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8dc8f509c44e0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A0F69-B1EA-4459-8991-BC3AB2FB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28950"/>
            <a:ext cx="3857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tokens por dia no principal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0A9AB-BD7F-4BBB-8317-5FDBED5E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5049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A conta, com o mesmo trabalho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49477-140D-404D-B7F1-A32A5D39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24050"/>
            <a:ext cx="657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1.000.000 − 400.000 + 100.000 = 700.000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06411-BD84-4F70-A496-874D15F0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90775"/>
            <a:ext cx="657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400 mil tokens de execução vão aos auxiliares (40%).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1AD2C-6CF3-4BB8-AD2E-963C23C5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67000"/>
            <a:ext cx="657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100 mil tokens ficam para preparar e revisar (10%).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7B92F4-86E1-458C-BD13-8ACDCD18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718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300 mil tokens do principal preservados por 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E10D8-6D1E-42CC-8DE9-07EF4564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67075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O total entre as IAs pode chegar a 1,1 milhão/dia neste exemplo.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F3885-B2EE-4F34-8CDA-841487D6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62325"/>
            <a:ext cx="571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Tokens do principal · médias em 8h de trabalho</a:t>
            </a:r>
          </a:p>
        </p:txBody>
      </p:sp>
      <p:graphicFrame>
        <p:nvGraphicFrame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8E04A-5ADB-41AD-BCF3-5BC1DAFFCC52}"/>
              </a:ext>
            </a:extLst>
          </p:cNvPr>
          <p:cNvGraphicFramePr/>
          <p:nvPr/>
        </p:nvGraphicFramePr>
        <p:xfrm>
          <a:off xmlns:a="http://schemas.openxmlformats.org/drawingml/2006/main" x="533400" y="3657600"/>
          <a:ext xmlns:a="http://schemas.openxmlformats.org/drawingml/2006/main" cx="57150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1381125"/>
                <a:gridCol w="1476375"/>
                <a:gridCol w="1714500"/>
              </a:tblGrid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Antes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Agora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 menos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Minuto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2.083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1.458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625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Hora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125 mil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87,5 mil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37,5 mil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Dia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 milhão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700 mil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300 mil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Semana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5 milhões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3,5 milhões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1,5 milhão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Mês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22 milhões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15,4 milhões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6,6 milhões</a:t>
                      </a:r>
                    </a:p>
                  </a:txBody>
                  <a:tcPr marL="91440" marR="91440" marT="45720" marB="4572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3243D1-9A5F-4C7D-ABEB-AABA7CF6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00450"/>
            <a:ext cx="499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Exemplos de trabalho delegado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148C7-3D53-4B81-9E44-935C8F4F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52875"/>
            <a:ext cx="499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70DEC9"/>
                </a:solidFill>
                <a:latin typeface="Arial"/>
                <a:ea typeface="Arial"/>
                <a:cs typeface="Arial"/>
              </a:rPr>
              <a:t>Ollama · resumir um texto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F8D58-5282-42F7-9806-831F9BAD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76725"/>
            <a:ext cx="499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2BFFF"/>
                </a:solidFill>
                <a:latin typeface="Arial"/>
                <a:ea typeface="Arial"/>
                <a:cs typeface="Arial"/>
              </a:rPr>
              <a:t>Copilot · sugerir testes para uma função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A1B885-5E8D-42B8-A32B-3E0AE976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00575"/>
            <a:ext cx="499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OpenCode/Nemotron · analisar um erro</a:t>
            </a:r>
          </a:p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com um trecho público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829525-2970-4604-BA7E-8F26FF2F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33975"/>
            <a:ext cx="499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313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O principal confere e aplica o resultado.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0F420-34EC-410A-BDE2-0391087B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11125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Processamento equivalente: R$ 36/dia → R$ 25,20/dia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98A0C5-5091-47F2-BDD9-C25A2409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29300"/>
            <a:ext cx="1112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0DEC9"/>
                </a:solidFill>
                <a:latin typeface="Arial"/>
                <a:ea typeface="Arial"/>
                <a:cs typeface="Arial"/>
              </a:rPr>
              <a:t>Diferença: R$ 10,80/dia · R$ 54/semana · R$ 237,60/mês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3328F4-179B-4367-9AF3-5DD99AFF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72200"/>
            <a:ext cx="11125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92B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92B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92BFFF"/>
                </a:solidFill>
                <a:latin typeface="Arial"/>
                <a:ea typeface="Arial"/>
                <a:cs typeface="Arial"/>
              </a:rPr>
              <a:t>Espera no cenário: 2h/dia → 0h/dia · potencial de 10h/semana ou 44h/mês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6AE0B4-374B-41D1-863B-686D60DB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Hipóteses: 8h/dia; 5 dias/semana; 22 dias/mês; cota antes durava 6h; auxiliares disponíveis. Ganhos ainda não medidos.</a:t>
            </a:r>
          </a:p>
          <a:p xmlns:a="http://schemas.openxmlformats.org/drawingml/2006/main">
            <a:pPr>
              <a:defRPr sz="10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R$ 36/milhão é uma referência hipotética de API. A mensalidade fica igual; tokens auxiliares e energia não foram precificados.</a:t>
            </a:r>
          </a:p>
        </p:txBody>
      </p:sp>
    </p:spTree>
    <p:extLst>
      <p:ext uri="{BB962C8B-B14F-4D97-AF65-F5344CB8AC3E}">
        <p14:creationId xmlns:p14="http://schemas.microsoft.com/office/powerpoint/2010/main" val="21400081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</ap:Slides>
  <ap:Notes>1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Nicholas Birochi</dc:creator>
  <lastModifiedBy>Nicholas Birochi</lastModifiedBy>
  <dc:title>Presentation</dc:title>
  <dcterms:created xsi:type="dcterms:W3CDTF">2026-10-14T03:50:52.8200000Z</dcterms:created>
  <dcterms:modified xsi:type="dcterms:W3CDTF">2026-10-14T03:50:52.8210000Z</dcterms:modified>
</coreProperties>
</file>
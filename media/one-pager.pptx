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f6a72d5e34695" /><Relationship Type="http://schemas.openxmlformats.org/officeDocument/2006/relationships/extended-properties" Target="/docProps/app.xml" Id="Rafb20c1a92774d2d" /><Relationship Type="http://schemas.openxmlformats.org/officeDocument/2006/relationships/officeDocument" Target="/ppt/presentation.xml" Id="Rab8c195fa70143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aa5915d7744153"/>
  </p:sldMasterIdLst>
  <p:notesMasterIdLst>
    <p:notesMasterId xmlns:r="http://schemas.openxmlformats.org/officeDocument/2006/relationships" r:id="Rb3cd4b7293d44e2a"/>
  </p:notesMasterIdLst>
  <p:sldIdLst>
    <p:sldId xmlns:r="http://schemas.openxmlformats.org/officeDocument/2006/relationships" id="256" r:id="R976e9abcf9db43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878a8cd564ebb" /><Relationship Type="http://schemas.openxmlformats.org/officeDocument/2006/relationships/slideMaster" Target="/ppt/slideMasters/slideMaster1.xml" Id="R28aa5915d7744153" /><Relationship Type="http://schemas.openxmlformats.org/officeDocument/2006/relationships/notesMaster" Target="/ppt/notesMasters/notesMaster1.xml" Id="Rb3cd4b7293d44e2a" /><Relationship Type="http://schemas.openxmlformats.org/officeDocument/2006/relationships/presProps" Target="/ppt/presProps.xml" Id="R38334a5e16bd43c4" /><Relationship Type="http://schemas.openxmlformats.org/officeDocument/2006/relationships/tableStyles" Target="/ppt/tableStyles.xml" Id="R05ee10008e304304" /><Relationship Type="http://schemas.openxmlformats.org/officeDocument/2006/relationships/slide" Target="/ppt/slides/slide1.xml" Id="R976e9abcf9db43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c3de01866141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765cf822fd46c6" /><Relationship Type="http://schemas.openxmlformats.org/officeDocument/2006/relationships/notesMaster" Target="/ppt/notesMasters/notesMaster1.xml" Id="Re78229e79e87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ampliado executado em 16/10/2026: três corpus sintéticos de40,1000e10000notas de conteúdo, mais um protocolo mínimo em cada. Maior corpus:26.918.974caracteresUnicode,28.208.929bytesUTF8, sem multiplicar por consultas ou somar prefixos repetidos. Oito consultas distintas por escala, com temas, múltiplos termos, filtro de projeto e ausência de resultado:24pares,48execuções. Mesmos limites --max5 --orcamento12000. Saída acumulada anterior210.965caracteres, atual118.299, diferença92.666, redução43,9%. Notas e trechos selecionados conferidos como idênticos em todos os pares. Reduções por escala:16,6%,50,9%,51,6%. Versão de referência40569e851506e3cd027004960f4b7d217bd0cb32. Dados, hashes e tempos observados em https://github.com/nicholasbirochi/Cerebro/blob/main/docs/benchmark-ampliado.json; método em docs/BENCHMARK.md. Tempos de uma passagem por caso, sem cache controlado ou inferência de ganho de velocidade. Não mede tokens de IA, qualidade geral, produtividade ou economia financeira. Medição local anterior60,9%em uma consulta permanece histórica, sem ser extrapolada para esta bateria. Nenhum cofre pessoal, credencial ou dado privado foi usado.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5b06fd11844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53faee6194e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4f9cf71cd4f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ff2dea03b48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fe681aa044f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7d2e7ce66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B9C44B-CEB7-48E5-A4AB-9204620FC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63BA4A-2AB4-4B70-BDAE-841C39FF0C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667B96-F746-4FB9-B514-AD97CB5435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93D361-9101-454F-8F81-AACF04ABC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2D83E6-5D72-4A63-8FBE-374F8B6DC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1DEFDC-F6F1-4E8B-B315-FF97EE772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6C76A5-1377-413D-B77F-A5F9EC35A5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336450-ADE1-4436-BAB4-00A43E5A14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CBE39E-090F-4086-ACBF-8CF623B0F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FB93EA-BF20-4B6A-A880-FF36811F53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6e4d8bbc640e3" /><Relationship Type="http://schemas.openxmlformats.org/officeDocument/2006/relationships/slideLayout" Target="/ppt/slideLayouts/slideLayout1.xml" Id="R1a4b66f2f332432e" /><Relationship Type="http://schemas.openxmlformats.org/officeDocument/2006/relationships/slideLayout" Target="/ppt/slideLayouts/slideLayout2.xml" Id="Rc8d760b05e4a47fe" /><Relationship Type="http://schemas.openxmlformats.org/officeDocument/2006/relationships/slideLayout" Target="/ppt/slideLayouts/slideLayout3.xml" Id="Rb686a57d33e24f75" /><Relationship Type="http://schemas.openxmlformats.org/officeDocument/2006/relationships/slideLayout" Target="/ppt/slideLayouts/slideLayout4.xml" Id="R6da9458a0eb646f9" /><Relationship Type="http://schemas.openxmlformats.org/officeDocument/2006/relationships/slideLayout" Target="/ppt/slideLayouts/slideLayout5.xml" Id="R338afb10facd4411" /><Relationship Type="http://schemas.openxmlformats.org/officeDocument/2006/relationships/slideLayout" Target="/ppt/slideLayouts/slideLayout6.xml" Id="R9d39626c544e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4b66f2f332432e"/>
    <p:sldLayoutId xmlns:r="http://schemas.openxmlformats.org/officeDocument/2006/relationships" id="2147483650" r:id="Rc8d760b05e4a47fe"/>
    <p:sldLayoutId xmlns:r="http://schemas.openxmlformats.org/officeDocument/2006/relationships" id="2147483651" r:id="Rb686a57d33e24f75"/>
    <p:sldLayoutId xmlns:r="http://schemas.openxmlformats.org/officeDocument/2006/relationships" id="2147483652" r:id="R6da9458a0eb646f9"/>
    <p:sldLayoutId xmlns:r="http://schemas.openxmlformats.org/officeDocument/2006/relationships" id="2147483653" r:id="R338afb10facd4411"/>
    <p:sldLayoutId xmlns:r="http://schemas.openxmlformats.org/officeDocument/2006/relationships" id="2147483654" r:id="R9d39626c544e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37854280046c9" /><Relationship Type="http://schemas.openxmlformats.org/officeDocument/2006/relationships/chart" Target="/ppt/slides/charts/chart1.xml" Id="R5abb7b4a460e4e12" /><Relationship Type="http://schemas.openxmlformats.org/officeDocument/2006/relationships/notesSlide" Target="/ppt/notesSlides/notesSlide1.xml" Id="R49dac48562f7495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lang val="en-US"/>
  <ns0:chart>
    <ns0:plotArea>
      <ns0:barChart>
        <ns0:barDir val="bar"/>
        <ns0:grouping val="clustered"/>
        <ns0:varyColors val="1"/>
        <ns0:ser>
          <ns0:idx val="0"/>
          <ns0:order val="0"/>
          <ns0:tx>
            <ns0:v>Caracteres retornados pela busca</ns0:v>
          </ns0:tx>
          <ns0:invertIfNegative val="0"/>
          <ns0:dPt>
            <ns0:idx val="0"/>
            <ns0:invertIfNegative val="0"/>
            <ns0:spPr>
              <ns1:solidFill>
                <ns1:srgbClr val="70DEC9"/>
              </ns1:solidFill>
            </ns0:spPr>
          </ns0:dPt>
          <ns0:dPt>
            <ns0:idx val="1"/>
            <ns0:invertIfNegative val="0"/>
            <ns0:spPr>
              <ns1:solidFill>
                <ns1:srgbClr val="607487"/>
              </ns1:solidFill>
            </ns0:spPr>
          </ns0:dPt>
          <ns0:dLbls>
            <ns0:dLbl>
              <ns0:idx val="0"/>
              <ns0:tx>
                <ns0:rich>
                  <ns1:bodyPr/>
                  <ns1:lstStyle/>
                  <ns1:p>
                    <ns1:r>
                      <ns1:rPr sz="1800" b="1">
                        <ns1:solidFill>
                          <ns1:srgbClr val="101923"/>
                        </ns1:solidFill>
                        <ns1:latin typeface="Arial"/>
                        <ns1:ea typeface="Arial"/>
                        <ns1:cs typeface="Arial"/>
                      </ns1:rPr>
                      <ns1:t>118.299</ns1:t>
                    </ns1:r>
                  </ns1:p>
                </ns0:rich>
              </ns0:tx>
              <ns0:txPr>
                <ns1:bodyPr anchorCtr="1"/>
                <ns1:lstStyle/>
                <ns1:p>
                  <ns1:pPr>
                    <ns1:defRPr sz="1800" b="1">
                      <ns1:solidFill>
                        <ns1:srgbClr val="101923"/>
                      </ns1:solidFill>
                      <ns1:latin typeface="Arial"/>
                      <ns1:ea typeface="Arial"/>
                      <ns1:cs typeface="Arial"/>
                    </ns1:defRPr>
                  </ns1:pPr>
                </ns1:p>
              </ns0:txPr>
              <ns0:dLblPos val="inEnd"/>
              <ns0:showVal val="0"/>
            </ns0:dLbl>
            <ns0:dLbl>
              <ns0:idx val="1"/>
              <ns0:tx>
                <ns0:rich>
                  <ns1:bodyPr/>
                  <ns1:lstStyle/>
                  <ns1:p>
                    <ns1:r>
                      <ns1:rPr sz="1800" b="1">
                        <ns1:solidFill>
                          <ns1:srgbClr val="F5F6F0"/>
                        </ns1:solidFill>
                        <ns1:latin typeface="Arial"/>
                        <ns1:ea typeface="Arial"/>
                        <ns1:cs typeface="Arial"/>
                      </ns1:rPr>
                      <ns1:t>210.965</ns1:t>
                    </ns1:r>
                  </ns1:p>
                </ns0:rich>
              </ns0:tx>
              <ns0:txPr>
                <ns1:bodyPr anchorCtr="1"/>
                <ns1:lstStyle/>
                <ns1:p>
                  <ns1:pPr>
                    <ns1:defRPr sz="1800" b="1">
                      <ns1:solidFill>
                        <ns1:srgbClr val="F5F6F0"/>
                      </ns1:solidFill>
                      <ns1:latin typeface="Arial"/>
                      <ns1:ea typeface="Arial"/>
                      <ns1:cs typeface="Arial"/>
                    </ns1:defRPr>
                  </ns1:pPr>
                </ns1:p>
              </ns0:txPr>
              <ns0:dLblPos val="inEnd"/>
              <ns0:showVal val="0"/>
            </ns0:dLbl>
            <ns0:showLegendKey val="0"/>
            <ns0:showVal val="0"/>
            <ns0:showCatName val="0"/>
            <ns0:showSerName val="0"/>
            <ns0:showPercent val="0"/>
            <ns0:showBubbleSize val="0"/>
            <ns0:showLeaderLines val="0"/>
          </ns0:dLbls>
          <ns0:cat>
            <ns0:strRef>
              <ns0:f>'Chart Data'!$A$2:$A$3</ns0:f>
              <ns0:strCache>
                <ns0:ptCount val="2"/>
                <ns0:pt idx="0">
                  <ns0:v>Agora</ns0:v>
                </ns0:pt>
                <ns0:pt idx="1">
                  <ns0:v>Antes</ns0:v>
                </ns0:pt>
              </ns0:strCache>
            </ns0:strRef>
          </ns0:cat>
          <ns0:val>
            <ns0:numRef>
              <ns0:f>'Chart Data'!$B$2:$B$3</ns0:f>
              <ns0:numCache>
                <ns0:formatCode>General</ns0:formatCode>
                <ns0:ptCount val="2"/>
                <ns0:pt idx="0">
                  <ns0:v>118299</ns0:v>
                </ns0:pt>
                <ns0:pt idx="1">
                  <ns0:v>210965</ns0:v>
                </ns0:pt>
              </ns0:numCache>
            </ns0:numRef>
          </ns0:val>
        </ns0:ser>
        <ns0:dLbls>
          <ns0:delete val="0"/>
          <ns0:txPr>
            <ns1:bodyPr anchorCtr="1"/>
            <ns1:lstStyle/>
            <ns1:p>
              <ns1:pPr>
                <ns1:defRPr>
                  <ns1:latin typeface="Arial"/>
                  <ns1:ea typeface="Arial"/>
                  <ns1:cs typeface="Arial"/>
                </ns1:defRPr>
              </ns1:pPr>
            </ns1:p>
          </ns0:txPr>
          <ns0:dLblPos val="inEnd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6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l"/>
        <ns0:numFmt formatCode="General"/>
        <ns0:majorTickMark val="none"/>
        <ns0:minorTickMark val="none"/>
        <ns0:spPr>
          <ns1:ln w="0">
            <ns1:noFill/>
          </ns1:ln>
        </ns0:spPr>
        <ns0:txPr>
          <ns1:bodyPr anchorCtr="1"/>
          <ns1:lstStyle/>
          <ns1:p>
            <ns1:pPr>
              <ns1:defRPr sz="1575" b="1">
                <ns1:solidFill>
                  <ns1:srgbClr val="F5F6F0"/>
                </ns1:solidFill>
                <ns1:latin typeface="Arial"/>
                <ns1:ea typeface="Arial"/>
                <ns1:cs typeface="Arial"/>
              </ns1:defRPr>
            </ns1:pPr>
          </ns1:p>
        </ns0:txPr>
        <ns0:crossAx val="48672768"/>
      </ns0:catAx>
      <ns0:valAx>
        <ns0:axId val="48672768"/>
        <ns0:scaling>
          <ns0:orientation val="minMax"/>
          <ns0:max val="232061.50000000003"/>
          <ns0:min val="0"/>
        </ns0:scaling>
        <ns0:delete val="1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ns0:txPr>
        <ns0:crossAx val="48650112"/>
        <ns0:crossBetween val="between"/>
      </ns0:valAx>
      <ns0:spPr>
        <ns1:solidFill>
          <ns1:srgbClr val="101923"/>
        </ns1:solidFill>
        <ns1:ln w="0">
          <ns1:noFill/>
        </ns1:ln>
      </ns0:spPr>
    </ns0:plotArea>
    <ns0:plotVisOnly val="1"/>
  </ns0:chart>
  <ns0:spPr>
    <ns1:solidFill>
      <ns1:srgbClr val="101923"/>
    </ns1:solidFill>
    <ns1:ln w="0">
      <ns1:noFill/>
    </ns1:ln>
  </ns0:spPr>
  <ns0:externalData ns2:id="rIdChartSnapshot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9E381-6774-4E56-BC9A-83F7CA70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EC9"/>
                </a:solidFill>
                <a:latin typeface="Arial"/>
                <a:ea typeface="Arial"/>
                <a:cs typeface="Arial"/>
              </a:rPr>
              <a:t>BENCHMARK AMPLIADO · 3 ESCALAS · 24 CONSULTAS PAREADAS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314CE-6A2F-46B4-ABFD-2652AD2D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"/>
            <a:ext cx="1112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10.000 notas na análise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04C1A-E9BA-4E56-9BBF-802B400A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12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8C5"/>
                </a:solidFill>
                <a:latin typeface="Arial"/>
                <a:ea typeface="Arial"/>
                <a:cs typeface="Arial"/>
              </a:rPr>
              <a:t>Maior acervo com 26.918.974 caracteres sintéticos. Sem usar o cofre pessoal.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048EF-72FF-4FE5-9E28-7BC2557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8C5"/>
                </a:solidFill>
                <a:latin typeface="Arial"/>
                <a:ea typeface="Arial"/>
                <a:cs typeface="Arial"/>
              </a:rPr>
              <a:t>Texto retornado nas 24 consultas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03C8957-75CA-440C-AC5C-A51258EE9DDA}"/>
              </a:ext>
            </a:extLst>
          </p:cNvPr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4133850" cy="1257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bb7b4a460e4e1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0BE0E-B0A6-4D99-8076-41DC17C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EC9"/>
                </a:solidFill>
                <a:latin typeface="Arial"/>
                <a:ea typeface="Arial"/>
                <a:cs typeface="Arial"/>
              </a:rPr>
              <a:t>92.666 caracteres a menos (43,9%)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5B421-8C98-4C8C-9E95-61B67316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049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Mesma seleção nas 24 comparações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38BA4-7C9D-40DB-8AFD-C0A806B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240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DEC9"/>
                </a:solidFill>
                <a:latin typeface="Arial"/>
                <a:ea typeface="Arial"/>
                <a:cs typeface="Arial"/>
              </a:rPr>
              <a:t>210.965 − 118.299 = 92.666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DE662-877D-4CD6-82B8-8A04BE05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9077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48 execuções, antes e depois de cada consulta.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5CE58-E17E-49DB-B061-37E9B3C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6700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Temas, múltiplos termos, projeto e ausência de resultado.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A7876-FFD8-47F2-9099-69F3357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70DE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0DEC9"/>
                </a:solidFill>
                <a:latin typeface="Arial"/>
                <a:ea typeface="Arial"/>
                <a:cs typeface="Arial"/>
              </a:rPr>
              <a:t>Notas e trechos equivalentes em todos os casos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BB1EB-3E87-4413-9747-F1529AC5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6707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8C5"/>
                </a:solidFill>
                <a:latin typeface="Arial"/>
                <a:ea typeface="Arial"/>
                <a:cs typeface="Arial"/>
              </a:rPr>
              <a:t>Mesmo limite: 5 notas e 12.000 caracteres por consulta.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520EE-BF46-4BA9-8B44-3C49FAB3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8C5"/>
                </a:solidFill>
                <a:latin typeface="Arial"/>
                <a:ea typeface="Arial"/>
                <a:cs typeface="Arial"/>
              </a:rPr>
              <a:t>Resultados por escala · saídas em caracteres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6ED1F-28F4-44CC-800E-A3FD1406E7FD}"/>
              </a:ext>
            </a:extLst>
          </p:cNvPr>
          <p:cNvGraphicFramePr/>
          <p:nvPr/>
        </p:nvGraphicFramePr>
        <p:xfrm>
          <a:off xmlns:a="http://schemas.openxmlformats.org/drawingml/2006/main" x="533400" y="3657600"/>
          <a:ext xmlns:a="http://schemas.openxmlformats.org/drawingml/2006/main" cx="5715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381125"/>
                <a:gridCol w="1476375"/>
                <a:gridCol w="1714500"/>
              </a:tblGrid>
              <a:tr h="238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1">
                          <a:solidFill>
                            <a:srgbClr val="AAB8C5"/>
                          </a:solidFill>
                          <a:latin typeface="Arial"/>
                          <a:ea typeface="Arial"/>
                          <a:cs typeface="Arial"/>
                        </a:rPr>
                        <a:t>Escala</a:t>
                      </a:r>
                    </a:p>
                  </a:txBody>
                  <a:tcPr marL="95250" marR="952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1">
                          <a:solidFill>
                            <a:srgbClr val="AAB8C5"/>
                          </a:solidFill>
                          <a:latin typeface="Arial"/>
                          <a:ea typeface="Arial"/>
                          <a:cs typeface="Arial"/>
                        </a:rPr>
                        <a:t>40 notas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1">
                          <a:solidFill>
                            <a:srgbClr val="AAB8C5"/>
                          </a:solidFill>
                          <a:latin typeface="Arial"/>
                          <a:ea typeface="Arial"/>
                          <a:cs typeface="Arial"/>
                        </a:rPr>
                        <a:t>1.000 notas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1">
                          <a:solidFill>
                            <a:srgbClr val="AAB8C5"/>
                          </a:solidFill>
                          <a:latin typeface="Arial"/>
                          <a:ea typeface="Arial"/>
                          <a:cs typeface="Arial"/>
                        </a:rPr>
                        <a:t>10.000 notas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</a:tr>
              <a:tr h="238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Acervo (car.)</a:t>
                      </a:r>
                    </a:p>
                  </a:txBody>
                  <a:tcPr marL="95250" marR="9525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105.046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2.690.974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70DEC9"/>
                          </a:solidFill>
                          <a:latin typeface="Arial"/>
                          <a:ea typeface="Arial"/>
                          <a:cs typeface="Arial"/>
                        </a:rPr>
                        <a:t>26.918.974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</a:tr>
              <a:tr h="238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Consultas</a:t>
                      </a:r>
                    </a:p>
                  </a:txBody>
                  <a:tcPr marL="95250" marR="9525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70DEC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</a:tr>
              <a:tr h="238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Saída antes</a:t>
                      </a:r>
                    </a:p>
                  </a:txBody>
                  <a:tcPr marL="95250" marR="9525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44.547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82.546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70DEC9"/>
                          </a:solidFill>
                          <a:latin typeface="Arial"/>
                          <a:ea typeface="Arial"/>
                          <a:cs typeface="Arial"/>
                        </a:rPr>
                        <a:t>83.872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</a:tr>
              <a:tr h="238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Saída atual</a:t>
                      </a:r>
                    </a:p>
                  </a:txBody>
                  <a:tcPr marL="95250" marR="9525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37.155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40.565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70DEC9"/>
                          </a:solidFill>
                          <a:latin typeface="Arial"/>
                          <a:ea typeface="Arial"/>
                          <a:cs typeface="Arial"/>
                        </a:rPr>
                        <a:t>40.579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</a:tr>
              <a:tr h="238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Redução</a:t>
                      </a:r>
                    </a:p>
                  </a:txBody>
                  <a:tcPr marL="95250" marR="95250" marT="0" marB="0"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16,6%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F5F6F0"/>
                          </a:solidFill>
                          <a:latin typeface="Arial"/>
                          <a:ea typeface="Arial"/>
                          <a:cs typeface="Arial"/>
                        </a:rPr>
                        <a:t>50,9%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13" b="0">
                          <a:solidFill>
                            <a:srgbClr val="70DEC9"/>
                          </a:solidFill>
                          <a:latin typeface="Arial"/>
                          <a:ea typeface="Arial"/>
                          <a:cs typeface="Arial"/>
                        </a:rPr>
                        <a:t>51,6%</a:t>
                      </a:r>
                    </a:p>
                  </a:txBody>
                  <a:tcPr marL="95250" marR="95250" marT="0" marB="0" anchor="ctr">
                    <a:lnR w="0">
                      <a:noFill/>
                    </a:lnR>
                    <a:lnB w="0">
                      <a:noFill/>
                    </a:lnB>
                    <a:solidFill>
                      <a:srgbClr val="101923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AC1FC-4FAE-4E95-8F62-20670D4D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99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Reproduza a análise ampliada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E3D6B-E13B-4D25-BB2B-9CA9CF9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DEC9"/>
                </a:solidFill>
                <a:latin typeface="Arial"/>
                <a:ea typeface="Arial"/>
                <a:cs typeface="Arial"/>
              </a:rPr>
              <a:t>python3 tools/benchmark_busca.py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CBB4D-8FD2-4975-81B5-1DAB991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2BFFF"/>
                </a:solidFill>
                <a:latin typeface="Arial"/>
                <a:ea typeface="Arial"/>
                <a:cs typeface="Arial"/>
              </a:rPr>
              <a:t>--ampliado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C9C67-E640-4889-A987-D5565AA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00575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Maior corpus: 26.918.974 caracteres</a:t>
            </a:r>
          </a:p>
          <a:p xmlns:a="http://schemas.openxmlformats.org/drawingml/2006/main">
            <a:pPr>
              <a:buNone/>
              <a:defRPr sz="1425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10.000 notas sintéticas + protocolo mínimo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75D0C-687A-45F2-BB84-078D2199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33975"/>
            <a:ext cx="499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defPPr>
            <a:lvl1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1pPr>
            <a:lvl2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2pPr>
            <a:lvl3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3pPr>
            <a:lvl4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4pPr>
            <a:lvl5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5pPr>
            <a:lvl6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6pPr>
            <a:lvl7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7pPr>
            <a:lvl8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8pPr>
            <a:lvl9pPr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13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AAB8C5"/>
                </a:solidFill>
                <a:latin typeface="Arial"/>
                <a:ea typeface="Arial"/>
                <a:cs typeface="Arial"/>
              </a:rPr>
              <a:t>Medição local anterior: 60,9% em uma consulta.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08A3F-17E1-4547-977D-467497A9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6F0"/>
                </a:solidFill>
                <a:latin typeface="Arial"/>
                <a:ea typeface="Arial"/>
                <a:cs typeface="Arial"/>
              </a:rPr>
              <a:t>O acervo cresce; o contexto retornado tem orçamento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807C5-CBCF-4E93-B825-7C443AC1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defPPr>
            <a:lvl1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1pPr>
            <a:lvl2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2pPr>
            <a:lvl3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3pPr>
            <a:lvl4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4pPr>
            <a:lvl5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5pPr>
            <a:lvl6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6pPr>
            <a:lvl7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7pPr>
            <a:lvl8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8pPr>
            <a:lvl9pPr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92BFFF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92BFFF"/>
                </a:solidFill>
                <a:latin typeface="Arial"/>
                <a:ea typeface="Arial"/>
                <a:cs typeface="Arial"/>
              </a:rPr>
              <a:t>210.965 → 118.299 soma 24 consultas distintas; não é o volume de uma única resposta.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EDD20-AC63-490E-8480-3172ED1D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70DE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DEC9"/>
                </a:solidFill>
                <a:latin typeface="Arial"/>
                <a:ea typeface="Arial"/>
                <a:cs typeface="Arial"/>
              </a:rPr>
              <a:t>Dados sintéticos reproduzíveis. Nenhuma inferência de IA ou API paga foi executada.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544F0-F3F1-4B8C-8779-F777E88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F5F6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0"/>
                </a:solidFill>
                <a:latin typeface="Arial"/>
                <a:ea typeface="Arial"/>
                <a:cs typeface="Arial"/>
              </a:rPr>
              <a:t>Saída em caracteres; tokens totais, produtividade e economia financeira não foram medidos.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916E3-D514-4D87-97D1-FE2D34CC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0"/>
            <a:ext cx="1112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AAB8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8C5"/>
                </a:solidFill>
                <a:latin typeface="Arial"/>
                <a:ea typeface="Arial"/>
                <a:cs typeface="Arial"/>
              </a:rPr>
              <a:t>16/10/2026 · Uma passagem por caso, sem controle de cache. Corpus e consultas completos: docs/benchmark-ampliado.json.</a:t>
            </a:r>
          </a:p>
        </p:txBody>
      </p:sp>
    </p:spTree>
    <p:extLst>
      <p:ext uri="{BB962C8B-B14F-4D97-AF65-F5344CB8AC3E}">
        <p14:creationId xmlns:p14="http://schemas.microsoft.com/office/powerpoint/2010/main" val="576253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Nicholas Birochi</dc:creator>
  <ns0:lastModifiedBy>Nicholas Birochi</ns0:lastModifiedBy>
  <dc:title>Presentation</dc:title>
  <ns2:created xsi:type="dcterms:W3CDTF">2026-10-16T19:14:06.0620000Z</ns2:created>
  <ns2:modified xsi:type="dcterms:W3CDTF">2026-10-16T19:14:06.0620000Z</ns2:modified>
</ns0:coreProperties>
</file>
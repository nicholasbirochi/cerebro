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583.375</c:v>
                </c:pt>
                <c:pt idx="1">
                  <c:v>2948.375</c:v>
                </c:pt>
                <c:pt idx="2">
                  <c:v>8010.25</c:v>
                </c:pt>
                <c:pt idx="3">
                  <c:v>10318.25</c:v>
                </c:pt>
                <c:pt idx="4">
                  <c:v>10484.0</c:v>
                </c:pt>
                <c:pt idx="5">
                  <c:v>10485.75</c:v>
                </c:pt>
                <c:pt idx="6">
                  <c:v>10487.5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583.375</c:v>
                </c:pt>
                <c:pt idx="1">
                  <c:v>2938.625</c:v>
                </c:pt>
                <c:pt idx="2">
                  <c:v>4921.375</c:v>
                </c:pt>
                <c:pt idx="3">
                  <c:v>5070.625</c:v>
                </c:pt>
                <c:pt idx="4">
                  <c:v>5072.375</c:v>
                </c:pt>
                <c:pt idx="5">
                  <c:v>5074.125</c:v>
                </c:pt>
                <c:pt idx="6">
                  <c:v>5075.875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3000.0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Caracteres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0.003</c:v>
                </c:pt>
                <c:pt idx="2">
                  <c:v>0.386</c:v>
                </c:pt>
                <c:pt idx="3">
                  <c:v>0.509</c:v>
                </c:pt>
                <c:pt idx="4">
                  <c:v>0.516</c:v>
                </c:pt>
                <c:pt idx="5">
                  <c:v>0.516</c:v>
                </c:pt>
                <c:pt idx="6">
                  <c:v>0.516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Tokens o200k_base</c:v>
                </c:pt>
              </c:strCache>
            </c:strRef>
          </c:tx>
          <c:spPr>
            <a:ln w="25400">
              <a:solidFill>
                <a:srgbClr val="B9821A"/>
              </a:solidFill>
            </a:ln>
          </c:spPr>
          <c:marker>
            <c:symbol val="circle"/>
            <c:size val="7"/>
            <c:spPr>
              <a:solidFill>
                <a:srgbClr val="B9821A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B9821A"/>
                  </a:solidFill>
                </a:ln>
              </c:spPr>
            </c:marker>
            <c:spPr>
              <a:ln w="19050">
                <a:solidFill>
                  <a:srgbClr val="B9821A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0.0</c:v>
                </c:pt>
                <c:pt idx="1">
                  <c:v>0.005</c:v>
                </c:pt>
                <c:pt idx="2">
                  <c:v>0.451</c:v>
                </c:pt>
                <c:pt idx="3">
                  <c:v>0.575</c:v>
                </c:pt>
                <c:pt idx="4">
                  <c:v>0.5820000000000001</c:v>
                </c:pt>
                <c:pt idx="5">
                  <c:v>0.5820000000000001</c:v>
                </c:pt>
                <c:pt idx="6">
                  <c:v>0.5820000000000001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</c:v>
                </c:pt>
                <c:pt idx="1">
                  <c:v>0.342</c:v>
                </c:pt>
                <c:pt idx="2">
                  <c:v>0.452</c:v>
                </c:pt>
                <c:pt idx="3">
                  <c:v>1.296</c:v>
                </c:pt>
                <c:pt idx="4">
                  <c:v>13.581</c:v>
                </c:pt>
                <c:pt idx="5">
                  <c:v>614.024</c:v>
                </c:pt>
                <c:pt idx="6">
                  <c:v>27761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</c:v>
                </c:pt>
                <c:pt idx="1">
                  <c:v>0.345</c:v>
                </c:pt>
                <c:pt idx="2">
                  <c:v>0.456</c:v>
                </c:pt>
                <c:pt idx="3">
                  <c:v>1.395</c:v>
                </c:pt>
                <c:pt idx="4">
                  <c:v>10.095</c:v>
                </c:pt>
                <c:pt idx="5">
                  <c:v>160.173</c:v>
                </c:pt>
                <c:pt idx="6">
                  <c:v>2541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.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28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DEC9"/>
                </a:solidFill>
                <a:latin typeface="Arial"/>
              </a:rPr>
              <a:t>BENCHMARK DE CONTEXTO · 6 ESCALAS MEDIDAS + 1 PROJETADA · 48 CONSULTAS PAREADAS · 96 EXECUÇÕES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4572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EEF2F6"/>
                </a:solidFill>
                <a:latin typeface="Arial"/>
              </a:rPr>
              <a:t>De 1 nota a 1 milhão de notas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525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B4C0CC"/>
                </a:solidFill>
                <a:latin typeface="Arial"/>
              </a:rPr>
              <a:t>Medido de 1 a 100 mil notas (282,1 MB). 1 milhão (2,83 GB) foi gerado, mas a busca anterior não terminou em 22 min: aparece como projeção.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0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EEF2F6"/>
                </a:solidFill>
                <a:latin typeface="Arial"/>
              </a:rPr>
              <a:t>48/48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comparações medidas com as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mesmas notas e trechos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5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50,9–51,6%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menos caracteres por escala,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de 1 mil a 100 mil notas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5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58,2%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menos tokens o200k_base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0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2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3,8×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2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busca atual mais rápida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Texto retornado por consulta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média de 8 consultas, caracteres · ○ tracejado = projeção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080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48945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Redução conforme o acervo cresce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45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agregado de 8 consultas por escala, % · ○ tracejado = projeção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8945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4709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Tempo de busca por escala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09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soma de 8 consultas, segundos, escala log. · ○ tracejado = projeção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84709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44500" y="4445000"/>
          <a:ext cx="11302996" cy="1511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7500"/>
                <a:gridCol w="1387928"/>
                <a:gridCol w="1387928"/>
                <a:gridCol w="1387928"/>
                <a:gridCol w="1387928"/>
                <a:gridCol w="1387928"/>
                <a:gridCol w="1387928"/>
                <a:gridCol w="1387928"/>
              </a:tblGrid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Notas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milhão · projeção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Acervo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1,8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27,1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281,0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2,8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28,2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282,1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2,83 GB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Saída antes (car.)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4.667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23.587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64.082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82.546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83.872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83.886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83.900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Saída atual (car.)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4.667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23.509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39.371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40.565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40.579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40.593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40.607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Redução (car.)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51,6%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Redução (tokens)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Tempo antes → atual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0,5 s → 0,5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1,3 s → 1,4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13,6 s → 10,1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10 min → 3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7,7 h → 42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08000" y="61722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70DEC9"/>
                </a:solidFill>
                <a:latin typeface="Arial"/>
              </a:rPr>
              <a:t>Medido: de 1 a 100 mil notas, cada escala gravou e consultou suas notas em disco; mesmas notas e trechos antes e depois, limite de 5 notas e 12.000 caracteres.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63373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EEF2F6"/>
                </a:solidFill>
                <a:latin typeface="Arial"/>
              </a:rPr>
              <a:t>Projeção (1 milhão): saídas limitadas pelo orçamento e tempo extrapolado de 10 mil → 100 mil. Tokens: tiktoken o200k_base, não o tokenizador do Claude; só a saída da busca.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" y="6553200"/>
            <a:ext cx="11176000" cy="12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17/10/2026 · Apple M5, Python 3.14.7 · uma passagem por caso, sem controle de cache · dados 100% sintéticos · método e números completos: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Cérebro: benchmark de contexto em sete escalas</dc:title>
  <dc:subject/>
  <dc:creator>Nicholas Birochi</dc:creator>
  <cp:keywords/>
  <dc:description>generated using python-pptx</dc:description>
  <cp:lastModifiedBy>Nicholas Birochi</cp:lastModifiedBy>
  <cp:revision>1</cp:revision>
  <dcterms:created xsi:type="dcterms:W3CDTF">2026-10-17T21:00:00Z</dcterms:created>
  <dcterms:modified xsi:type="dcterms:W3CDTF">2026-10-17T21:00:00Z</dcterms:modified>
  <cp:category/>
</cp:coreProperties>
</file>
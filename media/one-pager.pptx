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8B7FD9"/>
                  </a:solidFill>
                </a:ln>
              </c:spPr>
            </c:marker>
            <c:spPr>
              <a:ln w="19050">
                <a:solidFill>
                  <a:srgbClr val="8B7FD9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153.375</c:v>
                </c:pt>
                <c:pt idx="1">
                  <c:v>758.0</c:v>
                </c:pt>
                <c:pt idx="2">
                  <c:v>2298.0</c:v>
                </c:pt>
                <c:pt idx="3">
                  <c:v>3060.125</c:v>
                </c:pt>
                <c:pt idx="4">
                  <c:v>3115.625</c:v>
                </c:pt>
                <c:pt idx="5">
                  <c:v>3115.875</c:v>
                </c:pt>
                <c:pt idx="6">
                  <c:v>3116.125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16A78B"/>
                  </a:solidFill>
                </a:ln>
              </c:spPr>
            </c:marker>
            <c:spPr>
              <a:ln w="19050">
                <a:solidFill>
                  <a:srgbClr val="16A78B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153.375</c:v>
                </c:pt>
                <c:pt idx="1">
                  <c:v>754.5</c:v>
                </c:pt>
                <c:pt idx="2">
                  <c:v>1260.625</c:v>
                </c:pt>
                <c:pt idx="3">
                  <c:v>1299.5</c:v>
                </c:pt>
                <c:pt idx="4">
                  <c:v>1301.0</c:v>
                </c:pt>
                <c:pt idx="5">
                  <c:v>1301.25</c:v>
                </c:pt>
                <c:pt idx="6">
                  <c:v>1301.5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3600.0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Tokens a menos</c:v>
                </c:pt>
              </c:strCache>
            </c:strRef>
          </c:tx>
          <c:spPr>
            <a:ln w="25400">
              <a:solidFill>
                <a:srgbClr val="B9821A"/>
              </a:solidFill>
            </a:ln>
          </c:spPr>
          <c:marker>
            <c:symbol val="circle"/>
            <c:size val="7"/>
            <c:spPr>
              <a:solidFill>
                <a:srgbClr val="B9821A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B9821A"/>
                  </a:solidFill>
                </a:ln>
              </c:spPr>
            </c:marker>
            <c:spPr>
              <a:ln w="19050">
                <a:solidFill>
                  <a:srgbClr val="B9821A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0.0</c:v>
                </c:pt>
                <c:pt idx="1">
                  <c:v>0.005</c:v>
                </c:pt>
                <c:pt idx="2">
                  <c:v>0.451</c:v>
                </c:pt>
                <c:pt idx="3">
                  <c:v>0.575</c:v>
                </c:pt>
                <c:pt idx="4">
                  <c:v>0.5820000000000001</c:v>
                </c:pt>
                <c:pt idx="5">
                  <c:v>0.5820000000000001</c:v>
                </c:pt>
                <c:pt idx="6">
                  <c:v>0.5820000000000001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7"/>
          <c:min val="0.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0%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Antes</c:v>
                </c:pt>
              </c:strCache>
            </c:strRef>
          </c:tx>
          <c:spPr>
            <a:ln w="25400">
              <a:solidFill>
                <a:srgbClr val="8B7FD9"/>
              </a:solidFill>
            </a:ln>
          </c:spPr>
          <c:marker>
            <c:symbol val="circle"/>
            <c:size val="7"/>
            <c:spPr>
              <a:solidFill>
                <a:srgbClr val="8B7FD9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8B7FD9"/>
                  </a:solidFill>
                </a:ln>
              </c:spPr>
            </c:marker>
            <c:spPr>
              <a:ln w="19050">
                <a:solidFill>
                  <a:srgbClr val="8B7FD9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0.34</c:v>
                </c:pt>
                <c:pt idx="1">
                  <c:v>0.342</c:v>
                </c:pt>
                <c:pt idx="2">
                  <c:v>0.452</c:v>
                </c:pt>
                <c:pt idx="3">
                  <c:v>1.296</c:v>
                </c:pt>
                <c:pt idx="4">
                  <c:v>13.581</c:v>
                </c:pt>
                <c:pt idx="5">
                  <c:v>614.024</c:v>
                </c:pt>
                <c:pt idx="6">
                  <c:v>27761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Atual</c:v>
                </c:pt>
              </c:strCache>
            </c:strRef>
          </c:tx>
          <c:spPr>
            <a:ln w="25400">
              <a:solidFill>
                <a:srgbClr val="16A78B"/>
              </a:solidFill>
            </a:ln>
          </c:spPr>
          <c:marker>
            <c:symbol val="circle"/>
            <c:size val="7"/>
            <c:spPr>
              <a:solidFill>
                <a:srgbClr val="16A78B"/>
              </a:solidFill>
              <a:ln>
                <a:solidFill>
                  <a:srgbClr val="16222E"/>
                </a:solidFill>
              </a:ln>
            </c:spPr>
          </c:marker>
          <c:dPt>
            <c:idx val="6"/>
            <c:marker>
              <c:symbol val="circle"/>
              <c:size val="8"/>
              <c:spPr>
                <a:solidFill>
                  <a:srgbClr val="16222E"/>
                </a:solidFill>
                <a:ln>
                  <a:solidFill>
                    <a:srgbClr val="16A78B"/>
                  </a:solidFill>
                </a:ln>
              </c:spPr>
            </c:marker>
            <c:spPr>
              <a:ln w="19050">
                <a:solidFill>
                  <a:srgbClr val="16A78B"/>
                </a:solidFill>
                <a:prstDash val="dash"/>
              </a:ln>
            </c:spP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10</c:v>
                </c:pt>
                <c:pt idx="2">
                  <c:v>100</c:v>
                </c:pt>
                <c:pt idx="3">
                  <c:v>1 mil</c:v>
                </c:pt>
                <c:pt idx="4">
                  <c:v>10 mil</c:v>
                </c:pt>
                <c:pt idx="5">
                  <c:v>100 mil</c:v>
                </c:pt>
                <c:pt idx="6">
                  <c:v>1 milhão</c:v>
                </c:pt>
              </c:strCache>
            </c: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0.34</c:v>
                </c:pt>
                <c:pt idx="1">
                  <c:v>0.345</c:v>
                </c:pt>
                <c:pt idx="2">
                  <c:v>0.456</c:v>
                </c:pt>
                <c:pt idx="3">
                  <c:v>1.395</c:v>
                </c:pt>
                <c:pt idx="4">
                  <c:v>10.095</c:v>
                </c:pt>
                <c:pt idx="5">
                  <c:v>160.173</c:v>
                </c:pt>
                <c:pt idx="6">
                  <c:v>2541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logBase val="10"/>
        </c:scaling>
        <c:delete val="0"/>
        <c:axPos val="l"/>
        <c:majorGridlines>
          <c:spPr>
            <a:ln>
              <a:solidFill>
                <a:srgbClr val="263544"/>
              </a:solidFill>
            </a:ln>
          </c:spPr>
        </c:majorGridlines>
        <c:numFmt formatCode="#,##0.0" sourceLinked="0"/>
        <c:majorTickMark val="out"/>
        <c:minorTickMark val="none"/>
        <c:tickLblPos val="nextTo"/>
        <c:spPr>
          <a:ln>
            <a:solidFill>
              <a:srgbClr val="263544"/>
            </a:solidFill>
          </a:ln>
        </c:spPr>
        <c:txPr>
          <a:bodyPr/>
          <a:lstStyle/>
          <a:p>
            <a:pPr>
              <a:defRPr sz="850">
                <a:solidFill>
                  <a:srgbClr val="7F8D9B"/>
                </a:solidFill>
              </a:defRPr>
            </a:pPr>
          </a:p>
        </c:txPr>
        <c:crossAx val="2118791784"/>
        <c:crosses val="autoZero"/>
      </c:valAx>
      <c:spPr>
        <a:solidFill>
          <a:srgbClr val="16222E"/>
        </a:solidFill>
        <a:ln>
          <a:noFill/>
        </a:ln>
      </c:spPr>
    </c:plotArea>
    <c:legend>
      <c:legendPos val="t"/>
      <c:layout/>
      <c:overlay val="0"/>
      <c:txPr>
        <a:bodyPr/>
        <a:lstStyle/>
        <a:p>
          <a:pPr>
            <a:defRPr>
              <a:solidFill>
                <a:srgbClr val="B4C0CC"/>
              </a:solidFill>
            </a:defRPr>
          </a:pPr>
        </a:p>
      </c:txPr>
    </c:legend>
    <c:plotVisOnly val="1"/>
    <c:dispBlanksAs val="gap"/>
    <c:showDLblsOverMax val="0"/>
  </c:chart>
  <c:spPr>
    <a:solidFill>
      <a:srgbClr val="16222E"/>
    </a:solidFill>
    <a:ln>
      <a:noFill/>
    </a:ln>
  </c:spPr>
  <c:txPr>
    <a:bodyPr/>
    <a:lstStyle/>
    <a:p>
      <a:pPr>
        <a:defRPr sz="850">
          <a:solidFill>
            <a:srgbClr val="7F8D9B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9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8000" y="2286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70DEC9"/>
                </a:solidFill>
                <a:latin typeface="Arial"/>
              </a:rPr>
              <a:t>BENCHMARK DE TOKENS · 6 ESCALAS MEDIDAS + 1 PROJETADA · 48 CONSULTAS PAREADAS · 96 EXECUÇÕES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8000" y="457200"/>
            <a:ext cx="11176000" cy="50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800" b="1">
                <a:solidFill>
                  <a:srgbClr val="EEF2F6"/>
                </a:solidFill>
                <a:latin typeface="Arial"/>
              </a:rPr>
              <a:t>58% menos tokens, de 1 nota a 1 milhão de notas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8000" y="952500"/>
            <a:ext cx="11176000" cy="190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B4C0CC"/>
                </a:solidFill>
                <a:latin typeface="Arial"/>
              </a:rPr>
              <a:t>Tokens que a busca devolve ao agente por consulta. Medido de 1 a 100 mil notas (282,1 MB); 1 milhão (2,83 GB) em medição, mostrado como projeção.</a:t>
            </a:r>
          </a:p>
        </p:txBody>
      </p:sp>
      <p:sp>
        <p:nvSpPr>
          <p:cNvPr id="5" name="Rectangle 4"/>
          <p:cNvSpPr/>
          <p:nvPr/>
        </p:nvSpPr>
        <p:spPr>
          <a:xfrm>
            <a:off x="508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0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EEF2F6"/>
                </a:solidFill>
                <a:latin typeface="Arial"/>
              </a:rPr>
              <a:t>58,2%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0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menos tokens por consulta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365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17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3.116 → 1.301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17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tokens por consulta, em média,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em 100 mil notas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230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754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51,4%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54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tokens a menos no total das 48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consultas: 100.008 → 48.562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80500" y="1301750"/>
            <a:ext cx="2698750" cy="857250"/>
          </a:xfrm>
          <a:prstGeom prst="rect">
            <a:avLst/>
          </a:prstGeom>
          <a:solidFill>
            <a:srgbClr val="1622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2900" y="1358900"/>
            <a:ext cx="2476500" cy="3175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70DEC9"/>
                </a:solidFill>
                <a:latin typeface="Arial"/>
              </a:rPr>
              <a:t>48/48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2900" y="1727200"/>
            <a:ext cx="2476500" cy="381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B4C0CC"/>
                </a:solidFill>
                <a:latin typeface="Arial"/>
              </a:rPr>
              <a:t>consultas com as mesmas notas</a:t>
            </a:r>
          </a:p>
          <a:p>
            <a:r>
              <a:rPr sz="1000" b="0">
                <a:solidFill>
                  <a:srgbClr val="B4C0CC"/>
                </a:solidFill>
                <a:latin typeface="Arial"/>
              </a:rPr>
              <a:t>e trechos: menos tokens, mesma resposta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80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Tokens retornados por consulta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80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média de 8 consultas, tokens o200k_base · ○ tracejado = projeção</a:t>
            </a:r>
          </a:p>
        </p:txBody>
      </p:sp>
      <p:graphicFrame>
        <p:nvGraphicFramePr>
          <p:cNvPr id="19" name="Chart 18"/>
          <p:cNvGraphicFramePr>
            <a:graphicFrameLocks noGrp="1"/>
          </p:cNvGraphicFramePr>
          <p:nvPr/>
        </p:nvGraphicFramePr>
        <p:xfrm>
          <a:off x="5080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448945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Redução de tokens conforme o acervo cresce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945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agregado de 8 consultas por escala, % · ○ tracejado = projeção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48945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TextBox 22"/>
          <p:cNvSpPr txBox="1"/>
          <p:nvPr/>
        </p:nvSpPr>
        <p:spPr>
          <a:xfrm>
            <a:off x="8470900" y="2298700"/>
            <a:ext cx="3460750" cy="177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EEF2F6"/>
                </a:solidFill>
                <a:latin typeface="Arial"/>
              </a:rPr>
              <a:t>Tempo de busca por escala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70900" y="2476500"/>
            <a:ext cx="3460750" cy="1397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soma de 8 consultas, segundos, escala log. · ○ tracejado = projeção</a:t>
            </a:r>
          </a:p>
        </p:txBody>
      </p:sp>
      <p:graphicFrame>
        <p:nvGraphicFramePr>
          <p:cNvPr id="25" name="Chart 24"/>
          <p:cNvGraphicFramePr>
            <a:graphicFrameLocks noGrp="1"/>
          </p:cNvGraphicFramePr>
          <p:nvPr/>
        </p:nvGraphicFramePr>
        <p:xfrm>
          <a:off x="8470900" y="2616200"/>
          <a:ext cx="3460750" cy="17272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26" name="Table 25"/>
          <p:cNvGraphicFramePr>
            <a:graphicFrameLocks noGrp="1"/>
          </p:cNvGraphicFramePr>
          <p:nvPr/>
        </p:nvGraphicFramePr>
        <p:xfrm>
          <a:off x="444500" y="4445000"/>
          <a:ext cx="11302996" cy="151130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87500"/>
                <a:gridCol w="1387928"/>
                <a:gridCol w="1387928"/>
                <a:gridCol w="1387928"/>
                <a:gridCol w="1387928"/>
                <a:gridCol w="1387928"/>
                <a:gridCol w="1387928"/>
                <a:gridCol w="1387928"/>
              </a:tblGrid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Notas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100 mil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1 milhão · projeção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Acervo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1,8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27,1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281,0 kB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2,8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28,2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282,1 MB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2,83 GB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Tokens antes / consulta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758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2.298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3.060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3.116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Tokens atual / consulta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153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754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1.261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1.300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1.301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1.302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Economia / consulta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1.037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1.761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1.815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B4C0CC"/>
                          </a:solidFill>
                          <a:latin typeface="Arial"/>
                        </a:rPr>
                        <a:t>Redução (tokens)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45,1%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57,5%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 i="0">
                          <a:solidFill>
                            <a:srgbClr val="EEF2F6"/>
                          </a:solidFill>
                          <a:latin typeface="Arial"/>
                        </a:rPr>
                        <a:t>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58,2%</a:t>
                      </a:r>
                    </a:p>
                  </a:txBody>
                  <a:tcPr marT="0" marB="0" marL="63500">
                    <a:solidFill>
                      <a:srgbClr val="16222E"/>
                    </a:solidFill>
                  </a:tcPr>
                </a:tc>
              </a:tr>
              <a:tr h="215900"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B4C0CC"/>
                          </a:solidFill>
                          <a:latin typeface="Arial"/>
                        </a:rPr>
                        <a:t>Tempo antes → atual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0,3 s → 0,3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0,5 s → 0,5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1,3 s → 1,4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13,6 s → 10,1 s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0">
                          <a:solidFill>
                            <a:srgbClr val="EEF2F6"/>
                          </a:solidFill>
                          <a:latin typeface="Arial"/>
                        </a:rPr>
                        <a:t>10 min → 3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 i="1">
                          <a:solidFill>
                            <a:srgbClr val="7F8D9B"/>
                          </a:solidFill>
                          <a:latin typeface="Arial"/>
                        </a:rPr>
                        <a:t>≈ 7,7 h → 42 min</a:t>
                      </a:r>
                    </a:p>
                  </a:txBody>
                  <a:tcPr marT="0" marB="0" marL="63500">
                    <a:solidFill>
                      <a:srgbClr val="101923"/>
                    </a:solidFill>
                  </a:tcPr>
                </a:tc>
              </a:tr>
            </a:tbl>
          </a:graphicData>
        </a:graphic>
      </p:graphicFrame>
      <p:sp>
        <p:nvSpPr>
          <p:cNvPr id="27" name="TextBox 26"/>
          <p:cNvSpPr txBox="1"/>
          <p:nvPr/>
        </p:nvSpPr>
        <p:spPr>
          <a:xfrm>
            <a:off x="508000" y="61722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70DEC9"/>
                </a:solidFill>
                <a:latin typeface="Arial"/>
              </a:rPr>
              <a:t>Medido: de 1 a 100 mil notas, cada escala gravou e consultou suas notas em disco; mesmas notas e trechos antes e depois, limite de 5 notas e 12.000 caracteres por consulta.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8000" y="6337300"/>
            <a:ext cx="11176000" cy="152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50" b="0">
                <a:solidFill>
                  <a:srgbClr val="EEF2F6"/>
                </a:solidFill>
                <a:latin typeface="Arial"/>
              </a:rPr>
              <a:t>Tokens: tiktoken o200k_base sobre a saída da busca (aproximação; o tokenizador do Claude difere). Projeção (1 milhão): saída limitada pelo orçamento e tempo extrapolado de 10 mil → 100 mil.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8000" y="6553200"/>
            <a:ext cx="11176000" cy="127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50" b="0">
                <a:solidFill>
                  <a:srgbClr val="7F8D9B"/>
                </a:solidFill>
                <a:latin typeface="Arial"/>
              </a:rPr>
              <a:t>18/10/2026 · Apple M5, Python 3.14.7 · uma passagem por caso, sem controle de cache · dados 100% sintéticos · método e números completos: docs/BENCHMARK.md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Cérebro: tokens por consulta em sete escalas</dc:title>
  <dc:subject/>
  <dc:creator>Nicholas Birochi</dc:creator>
  <cp:keywords/>
  <dc:description>generated using python-pptx</dc:description>
  <cp:lastModifiedBy>Nicholas Birochi</cp:lastModifiedBy>
  <cp:revision>1</cp:revision>
  <dcterms:created xsi:type="dcterms:W3CDTF">2026-10-18T12:00:00Z</dcterms:created>
  <dcterms:modified xsi:type="dcterms:W3CDTF">2026-10-18T12:00:00Z</dcterms:modified>
  <cp:category/>
</cp:coreProperties>
</file>